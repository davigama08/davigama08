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42e377ab064980" /><Relationship Type="http://schemas.openxmlformats.org/officeDocument/2006/relationships/extended-properties" Target="/docProps/app.xml" Id="Rbc1761db0d0242a1" /><Relationship Type="http://schemas.openxmlformats.org/officeDocument/2006/relationships/officeDocument" Target="/ppt/presentation.xml" Id="R9b8d95071dbd49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fd5a27488e4bee"/>
  </p:sldMasterIdLst>
  <p:notesMasterIdLst>
    <p:notesMasterId xmlns:r="http://schemas.openxmlformats.org/officeDocument/2006/relationships" r:id="R31b2bf7d6ee54d18"/>
  </p:notesMasterIdLst>
  <p:sldIdLst>
    <p:sldId xmlns:r="http://schemas.openxmlformats.org/officeDocument/2006/relationships" id="256" r:id="R494c3e68b54b4a36"/>
    <p:sldId xmlns:r="http://schemas.openxmlformats.org/officeDocument/2006/relationships" id="257" r:id="Rac683b330f0c48e5"/>
    <p:sldId xmlns:r="http://schemas.openxmlformats.org/officeDocument/2006/relationships" id="258" r:id="Rdd624cfc65d84993"/>
    <p:sldId xmlns:r="http://schemas.openxmlformats.org/officeDocument/2006/relationships" id="259" r:id="Rba9c4c9d465a4514"/>
    <p:sldId xmlns:r="http://schemas.openxmlformats.org/officeDocument/2006/relationships" id="260" r:id="Rb015e40211564a0a"/>
    <p:sldId xmlns:r="http://schemas.openxmlformats.org/officeDocument/2006/relationships" id="261" r:id="R2eced22aa514425a"/>
    <p:sldId xmlns:r="http://schemas.openxmlformats.org/officeDocument/2006/relationships" id="262" r:id="R08e907f5130a482a"/>
    <p:sldId xmlns:r="http://schemas.openxmlformats.org/officeDocument/2006/relationships" id="263" r:id="Rb1ac1844277441e7"/>
    <p:sldId xmlns:r="http://schemas.openxmlformats.org/officeDocument/2006/relationships" id="264" r:id="R3bd1a3e646c94705"/>
    <p:sldId xmlns:r="http://schemas.openxmlformats.org/officeDocument/2006/relationships" id="265" r:id="R1bda66b1f70a4696"/>
    <p:sldId xmlns:r="http://schemas.openxmlformats.org/officeDocument/2006/relationships" id="266" r:id="R2419c7e99075421d"/>
    <p:sldId xmlns:r="http://schemas.openxmlformats.org/officeDocument/2006/relationships" id="267" r:id="Re3d8966b5d564ee9"/>
    <p:sldId xmlns:r="http://schemas.openxmlformats.org/officeDocument/2006/relationships" id="268" r:id="Rc354fe76869a40b6"/>
    <p:sldId xmlns:r="http://schemas.openxmlformats.org/officeDocument/2006/relationships" id="269" r:id="R0761e871da6e40e6"/>
    <p:sldId xmlns:r="http://schemas.openxmlformats.org/officeDocument/2006/relationships" id="270" r:id="R756ce1ec10bf4850"/>
    <p:sldId xmlns:r="http://schemas.openxmlformats.org/officeDocument/2006/relationships" id="271" r:id="R7b181ad002244d9d"/>
    <p:sldId xmlns:r="http://schemas.openxmlformats.org/officeDocument/2006/relationships" id="272" r:id="Ra4fa16ad8e3746c5"/>
    <p:sldId xmlns:r="http://schemas.openxmlformats.org/officeDocument/2006/relationships" id="273" r:id="Rceee5af1f2374fbd"/>
    <p:sldId xmlns:r="http://schemas.openxmlformats.org/officeDocument/2006/relationships" id="274" r:id="R6b802eff9c8249ff"/>
    <p:sldId xmlns:r="http://schemas.openxmlformats.org/officeDocument/2006/relationships" id="275" r:id="R64fd1d52f8614dea"/>
    <p:sldId xmlns:r="http://schemas.openxmlformats.org/officeDocument/2006/relationships" id="276" r:id="R8e4fb776c0e24767"/>
    <p:sldId xmlns:r="http://schemas.openxmlformats.org/officeDocument/2006/relationships" id="277" r:id="R93757248e2554367"/>
    <p:sldId xmlns:r="http://schemas.openxmlformats.org/officeDocument/2006/relationships" id="278" r:id="Rcd8b9bf4400a4192"/>
    <p:sldId xmlns:r="http://schemas.openxmlformats.org/officeDocument/2006/relationships" id="279" r:id="R5e662c0b4acd4b8d"/>
    <p:sldId xmlns:r="http://schemas.openxmlformats.org/officeDocument/2006/relationships" id="280" r:id="Rf0b1567933184715"/>
    <p:sldId xmlns:r="http://schemas.openxmlformats.org/officeDocument/2006/relationships" id="281" r:id="R7a5c2e08db424fab"/>
    <p:sldId xmlns:r="http://schemas.openxmlformats.org/officeDocument/2006/relationships" id="282" r:id="Rcacd87fbe3314ed2"/>
    <p:sldId xmlns:r="http://schemas.openxmlformats.org/officeDocument/2006/relationships" id="283" r:id="Ra2a5601eb5834672"/>
    <p:sldId xmlns:r="http://schemas.openxmlformats.org/officeDocument/2006/relationships" id="284" r:id="Rd45c656f7a414355"/>
    <p:sldId xmlns:r="http://schemas.openxmlformats.org/officeDocument/2006/relationships" id="285" r:id="Red2cf7ed664844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559b9fe4274564" /><Relationship Type="http://schemas.openxmlformats.org/officeDocument/2006/relationships/slideMaster" Target="/ppt/slideMasters/slideMaster1.xml" Id="Rfafd5a27488e4bee" /><Relationship Type="http://schemas.openxmlformats.org/officeDocument/2006/relationships/notesMaster" Target="/ppt/notesMasters/notesMaster1.xml" Id="R31b2bf7d6ee54d18" /><Relationship Type="http://schemas.openxmlformats.org/officeDocument/2006/relationships/presProps" Target="/ppt/presProps.xml" Id="R0efe4f5446634f9f" /><Relationship Type="http://schemas.openxmlformats.org/officeDocument/2006/relationships/tableStyles" Target="/ppt/tableStyles.xml" Id="R301db1d17c5e4fd7" /><Relationship Type="http://schemas.openxmlformats.org/officeDocument/2006/relationships/slide" Target="/ppt/slides/slide1.xml" Id="R494c3e68b54b4a36" /><Relationship Type="http://schemas.openxmlformats.org/officeDocument/2006/relationships/slide" Target="/ppt/slides/slide2.xml" Id="Rac683b330f0c48e5" /><Relationship Type="http://schemas.openxmlformats.org/officeDocument/2006/relationships/slide" Target="/ppt/slides/slide3.xml" Id="Rdd624cfc65d84993" /><Relationship Type="http://schemas.openxmlformats.org/officeDocument/2006/relationships/slide" Target="/ppt/slides/slide4.xml" Id="Rba9c4c9d465a4514" /><Relationship Type="http://schemas.openxmlformats.org/officeDocument/2006/relationships/slide" Target="/ppt/slides/slide5.xml" Id="Rb015e40211564a0a" /><Relationship Type="http://schemas.openxmlformats.org/officeDocument/2006/relationships/slide" Target="/ppt/slides/slide6.xml" Id="R2eced22aa514425a" /><Relationship Type="http://schemas.openxmlformats.org/officeDocument/2006/relationships/slide" Target="/ppt/slides/slide7.xml" Id="R08e907f5130a482a" /><Relationship Type="http://schemas.openxmlformats.org/officeDocument/2006/relationships/slide" Target="/ppt/slides/slide8.xml" Id="Rb1ac1844277441e7" /><Relationship Type="http://schemas.openxmlformats.org/officeDocument/2006/relationships/slide" Target="/ppt/slides/slide9.xml" Id="R3bd1a3e646c94705" /><Relationship Type="http://schemas.openxmlformats.org/officeDocument/2006/relationships/slide" Target="/ppt/slides/slide10.xml" Id="R1bda66b1f70a4696" /><Relationship Type="http://schemas.openxmlformats.org/officeDocument/2006/relationships/slide" Target="/ppt/slides/slide11.xml" Id="R2419c7e99075421d" /><Relationship Type="http://schemas.openxmlformats.org/officeDocument/2006/relationships/slide" Target="/ppt/slides/slide12.xml" Id="Re3d8966b5d564ee9" /><Relationship Type="http://schemas.openxmlformats.org/officeDocument/2006/relationships/slide" Target="/ppt/slides/slide13.xml" Id="Rc354fe76869a40b6" /><Relationship Type="http://schemas.openxmlformats.org/officeDocument/2006/relationships/slide" Target="/ppt/slides/slide14.xml" Id="R0761e871da6e40e6" /><Relationship Type="http://schemas.openxmlformats.org/officeDocument/2006/relationships/slide" Target="/ppt/slides/slide15.xml" Id="R756ce1ec10bf4850" /><Relationship Type="http://schemas.openxmlformats.org/officeDocument/2006/relationships/slide" Target="/ppt/slides/slide16.xml" Id="R7b181ad002244d9d" /><Relationship Type="http://schemas.openxmlformats.org/officeDocument/2006/relationships/slide" Target="/ppt/slides/slide17.xml" Id="Ra4fa16ad8e3746c5" /><Relationship Type="http://schemas.openxmlformats.org/officeDocument/2006/relationships/slide" Target="/ppt/slides/slide18.xml" Id="Rceee5af1f2374fbd" /><Relationship Type="http://schemas.openxmlformats.org/officeDocument/2006/relationships/slide" Target="/ppt/slides/slide19.xml" Id="R6b802eff9c8249ff" /><Relationship Type="http://schemas.openxmlformats.org/officeDocument/2006/relationships/slide" Target="/ppt/slides/slide20.xml" Id="R64fd1d52f8614dea" /><Relationship Type="http://schemas.openxmlformats.org/officeDocument/2006/relationships/slide" Target="/ppt/slides/slide21.xml" Id="R8e4fb776c0e24767" /><Relationship Type="http://schemas.openxmlformats.org/officeDocument/2006/relationships/slide" Target="/ppt/slides/slide22.xml" Id="R93757248e2554367" /><Relationship Type="http://schemas.openxmlformats.org/officeDocument/2006/relationships/slide" Target="/ppt/slides/slide23.xml" Id="Rcd8b9bf4400a4192" /><Relationship Type="http://schemas.openxmlformats.org/officeDocument/2006/relationships/slide" Target="/ppt/slides/slide24.xml" Id="R5e662c0b4acd4b8d" /><Relationship Type="http://schemas.openxmlformats.org/officeDocument/2006/relationships/slide" Target="/ppt/slides/slide25.xml" Id="Rf0b1567933184715" /><Relationship Type="http://schemas.openxmlformats.org/officeDocument/2006/relationships/slide" Target="/ppt/slides/slide26.xml" Id="R7a5c2e08db424fab" /><Relationship Type="http://schemas.openxmlformats.org/officeDocument/2006/relationships/slide" Target="/ppt/slides/slide27.xml" Id="Rcacd87fbe3314ed2" /><Relationship Type="http://schemas.openxmlformats.org/officeDocument/2006/relationships/slide" Target="/ppt/slides/slide28.xml" Id="Ra2a5601eb5834672" /><Relationship Type="http://schemas.openxmlformats.org/officeDocument/2006/relationships/slide" Target="/ppt/slides/slide29.xml" Id="Rd45c656f7a414355" /><Relationship Type="http://schemas.openxmlformats.org/officeDocument/2006/relationships/slide" Target="/ppt/slides/slide30.xml" Id="Red2cf7ed664844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e255ecdf7040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Davi Gama 2026">
      <a:dk1>
        <a:srgbClr val="181816"/>
      </a:dk1>
      <a:lt1>
        <a:srgbClr val="FFFFFF"/>
      </a:lt1>
      <a:dk2>
        <a:srgbClr val="34332D"/>
      </a:dk2>
      <a:lt2>
        <a:srgbClr val="F5F3ED"/>
      </a:lt2>
      <a:accent1>
        <a:srgbClr val="80623E"/>
      </a:accent1>
      <a:accent2>
        <a:srgbClr val="181816"/>
      </a:accent2>
      <a:accent3>
        <a:srgbClr val="C9B798"/>
      </a:accent3>
      <a:accent4>
        <a:srgbClr val="65655D"/>
      </a:accent4>
      <a:accent5>
        <a:srgbClr val="EAE5DA"/>
      </a:accent5>
      <a:accent6>
        <a:srgbClr val="52665B"/>
      </a:accent6>
      <a:hlink>
        <a:srgbClr val="80623E"/>
      </a:hlink>
      <a:folHlink>
        <a:srgbClr val="80623E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Davi Gam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edbca9feb14315" /><Relationship Type="http://schemas.openxmlformats.org/officeDocument/2006/relationships/notesMaster" Target="/ppt/notesMasters/notesMaster1.xml" Id="Rd701da4edccc4c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d2ef480f964f93" /><Relationship Type="http://schemas.openxmlformats.org/officeDocument/2006/relationships/notesMaster" Target="/ppt/notesMasters/notesMaster1.xml" Id="R5ed492599b2145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ded3737d7b4813" /><Relationship Type="http://schemas.openxmlformats.org/officeDocument/2006/relationships/notesMaster" Target="/ppt/notesMasters/notesMaster1.xml" Id="Rc119337f35a542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b9f9b781fd4aad" /><Relationship Type="http://schemas.openxmlformats.org/officeDocument/2006/relationships/notesMaster" Target="/ppt/notesMasters/notesMaster1.xml" Id="R6502aeb32fd245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6dfe43a1904418" /><Relationship Type="http://schemas.openxmlformats.org/officeDocument/2006/relationships/notesMaster" Target="/ppt/notesMasters/notesMaster1.xml" Id="R3fb08ac813b543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959704c8b04e49" /><Relationship Type="http://schemas.openxmlformats.org/officeDocument/2006/relationships/notesMaster" Target="/ppt/notesMasters/notesMaster1.xml" Id="R850df810f04c4f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977282937b4831" /><Relationship Type="http://schemas.openxmlformats.org/officeDocument/2006/relationships/notesMaster" Target="/ppt/notesMasters/notesMaster1.xml" Id="R2b525494759b43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5aed57650c4a84" /><Relationship Type="http://schemas.openxmlformats.org/officeDocument/2006/relationships/notesMaster" Target="/ppt/notesMasters/notesMaster1.xml" Id="Rbaa429c73d874c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20a956c58a43b0" /><Relationship Type="http://schemas.openxmlformats.org/officeDocument/2006/relationships/notesMaster" Target="/ppt/notesMasters/notesMaster1.xml" Id="R9c9fde5c90d74c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63d9cc54264b07" /><Relationship Type="http://schemas.openxmlformats.org/officeDocument/2006/relationships/notesMaster" Target="/ppt/notesMasters/notesMaster1.xml" Id="R9f4bd7fea9744a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a59588275843eb" /><Relationship Type="http://schemas.openxmlformats.org/officeDocument/2006/relationships/notesMaster" Target="/ppt/notesMasters/notesMaster1.xml" Id="R12edc87ccfb945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5f8f31f5be46c3" /><Relationship Type="http://schemas.openxmlformats.org/officeDocument/2006/relationships/notesMaster" Target="/ppt/notesMasters/notesMaster1.xml" Id="R29a3da89ff6b46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ba96f1fda24d6f" /><Relationship Type="http://schemas.openxmlformats.org/officeDocument/2006/relationships/notesMaster" Target="/ppt/notesMasters/notesMaster1.xml" Id="R7dae249c71c84a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5ccee07ccd4de6" /><Relationship Type="http://schemas.openxmlformats.org/officeDocument/2006/relationships/notesMaster" Target="/ppt/notesMasters/notesMaster1.xml" Id="Re1f83861ee6144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b0754b1ab44676" /><Relationship Type="http://schemas.openxmlformats.org/officeDocument/2006/relationships/notesMaster" Target="/ppt/notesMasters/notesMaster1.xml" Id="R1d038a5bc2134b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ed81d722a04ae5" /><Relationship Type="http://schemas.openxmlformats.org/officeDocument/2006/relationships/notesMaster" Target="/ppt/notesMasters/notesMaster1.xml" Id="R0ad6b1bce64146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19c62c0491462e" /><Relationship Type="http://schemas.openxmlformats.org/officeDocument/2006/relationships/notesMaster" Target="/ppt/notesMasters/notesMaster1.xml" Id="Rfa5b5e8c24ef44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e1a55372da14844" /><Relationship Type="http://schemas.openxmlformats.org/officeDocument/2006/relationships/notesMaster" Target="/ppt/notesMasters/notesMaster1.xml" Id="R125eb482f0274fa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b880462eb634de1" /><Relationship Type="http://schemas.openxmlformats.org/officeDocument/2006/relationships/notesMaster" Target="/ppt/notesMasters/notesMaster1.xml" Id="R1bc55668b98f4b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63b34e1d47d481e" /><Relationship Type="http://schemas.openxmlformats.org/officeDocument/2006/relationships/notesMaster" Target="/ppt/notesMasters/notesMaster1.xml" Id="Rdeeb9777aad943e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1305a2e6cd34d9e" /><Relationship Type="http://schemas.openxmlformats.org/officeDocument/2006/relationships/notesMaster" Target="/ppt/notesMasters/notesMaster1.xml" Id="Rdf00a3b2636d422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4d18face0004212" /><Relationship Type="http://schemas.openxmlformats.org/officeDocument/2006/relationships/notesMaster" Target="/ppt/notesMasters/notesMaster1.xml" Id="R6d7a4c4680fc4d2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2ab511ae8754fa2" /><Relationship Type="http://schemas.openxmlformats.org/officeDocument/2006/relationships/notesMaster" Target="/ppt/notesMasters/notesMaster1.xml" Id="Rce8b4cd97ee14ca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7f5baf17e51486f" /><Relationship Type="http://schemas.openxmlformats.org/officeDocument/2006/relationships/notesMaster" Target="/ppt/notesMasters/notesMaster1.xml" Id="R28a730b1f3904a7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ec8588d44534493" /><Relationship Type="http://schemas.openxmlformats.org/officeDocument/2006/relationships/notesMaster" Target="/ppt/notesMasters/notesMaster1.xml" Id="R06307549b80341c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3267fbe806742ad" /><Relationship Type="http://schemas.openxmlformats.org/officeDocument/2006/relationships/notesMaster" Target="/ppt/notesMasters/notesMaster1.xml" Id="R4586f4f080d0491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19e6dfb60644bfb" /><Relationship Type="http://schemas.openxmlformats.org/officeDocument/2006/relationships/notesMaster" Target="/ppt/notesMasters/notesMaster1.xml" Id="R905cbaf1075449e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6ba112f99364f50" /><Relationship Type="http://schemas.openxmlformats.org/officeDocument/2006/relationships/notesMaster" Target="/ppt/notesMasters/notesMaster1.xml" Id="R3bb40fa7f3af47d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0595ec957b7489c" /><Relationship Type="http://schemas.openxmlformats.org/officeDocument/2006/relationships/notesMaster" Target="/ppt/notesMasters/notesMaster1.xml" Id="Reb63a2da49fc40d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e68c84f1a80422d" /><Relationship Type="http://schemas.openxmlformats.org/officeDocument/2006/relationships/notesMaster" Target="/ppt/notesMasters/notesMaster1.xml" Id="R5d6999337f1740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Portfólio atualizado com fontes dos projetos. A imagem mostra o website público do Ícaro’s Barbershop. Autor: Davi Gama.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Skevia · Agendamento multi-tenant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A plataforma permite que cada negócio apresente a sua marca e opere a própria agenda. O Ícaro’s Barbershop, em Coimbra, é um caso aplicado, com catálogo de serviços, pacotes e marcação online.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Site público adaptado à marca, escolha de horário, serviços e profissional, além de backoffice para agenda, clientes, equipa, pacotes, relatórios e conteúdo do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API Java e Spring Boot para catálogo, disponibilidade, marcações e operações do negócio, com PostgreSQL e migrações. Um renderer React partilhado mantém a apresentação pública consistente com a prévia no editor.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Cliente escolhe um horário e os serviços compatíveis, seleciona o profissional e conclui a marcação.</a:t>
            </a:r>
          </a:p>
          <a:p xmlns:a="http://schemas.openxmlformats.org/drawingml/2006/main">
            <a:r>
              <a:t>A equipa consulta a agenda, cria marcações e gere o catálogo de serviços e pacotes.</a:t>
            </a:r>
          </a:p>
          <a:p xmlns:a="http://schemas.openxmlformats.org/drawingml/2006/main">
            <a:r>
              <a:t>O responsável configura o site do negócio e acompanha a operação no backoffice.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Uma plataforma comum suporta vários negócios, enquanto o catálogo e a identidade de cada organização permanecem próprios. A arquitetura pública mostra apenas responsabilidades funcionais.</a:t>
            </a:r>
          </a:p>
          <a:p xmlns:a="http://schemas.openxmlformats.org/drawingml/2006/main">
            <a:r>
              <a:t>Qualidade e estado: Testes unitários e de integração, verificação dos contratos entre frontend e API e validações responsivas dos templates. Pagamento online é uma extensão futura, não uma capacidade anunciada como concluída.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Interface pública do Ícaro’s Barbershop e telas locais de outubro de 2026. Identificadores da conta administrativa foram excluídos das imagens.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Skevia · Agendamento multi-tenant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A plataforma permite que cada negócio apresente a sua marca e opere a própria agenda. O Ícaro’s Barbershop, em Coimbra, é um caso aplicado, com catálogo de serviços, pacotes e marcação online.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Site público adaptado à marca, escolha de horário, serviços e profissional, além de backoffice para agenda, clientes, equipa, pacotes, relatórios e conteúdo do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API Java e Spring Boot para catálogo, disponibilidade, marcações e operações do negócio, com PostgreSQL e migrações. Um renderer React partilhado mantém a apresentação pública consistente com a prévia no editor.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Cliente escolhe um horário e os serviços compatíveis, seleciona o profissional e conclui a marcação.</a:t>
            </a:r>
          </a:p>
          <a:p xmlns:a="http://schemas.openxmlformats.org/drawingml/2006/main">
            <a:r>
              <a:t>A equipa consulta a agenda, cria marcações e gere o catálogo de serviços e pacotes.</a:t>
            </a:r>
          </a:p>
          <a:p xmlns:a="http://schemas.openxmlformats.org/drawingml/2006/main">
            <a:r>
              <a:t>O responsável configura o site do negócio e acompanha a operação no backoffice.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Uma plataforma comum suporta vários negócios, enquanto o catálogo e a identidade de cada organização permanecem próprios. A arquitetura pública mostra apenas responsabilidades funcionais.</a:t>
            </a:r>
          </a:p>
          <a:p xmlns:a="http://schemas.openxmlformats.org/drawingml/2006/main">
            <a:r>
              <a:t>Qualidade e estado: Testes unitários e de integração, verificação dos contratos entre frontend e API e validações responsivas dos templates. Pagamento online é uma extensão futura, não uma capacidade anunciada como concluída.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Interface pública do Ícaro’s Barbershop e telas locais de outubro de 2026. Identificadores da conta administrativa foram excluídos das imagens.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Skevia · Agendamento multi-tenant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A plataforma permite que cada negócio apresente a sua marca e opere a própria agenda. O Ícaro’s Barbershop, em Coimbra, é um caso aplicado, com catálogo de serviços, pacotes e marcação online.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Site público adaptado à marca, escolha de horário, serviços e profissional, além de backoffice para agenda, clientes, equipa, pacotes, relatórios e conteúdo do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API Java e Spring Boot para catálogo, disponibilidade, marcações e operações do negócio, com PostgreSQL e migrações. Um renderer React partilhado mantém a apresentação pública consistente com a prévia no editor.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Cliente escolhe um horário e os serviços compatíveis, seleciona o profissional e conclui a marcação.</a:t>
            </a:r>
          </a:p>
          <a:p xmlns:a="http://schemas.openxmlformats.org/drawingml/2006/main">
            <a:r>
              <a:t>A equipa consulta a agenda, cria marcações e gere o catálogo de serviços e pacotes.</a:t>
            </a:r>
          </a:p>
          <a:p xmlns:a="http://schemas.openxmlformats.org/drawingml/2006/main">
            <a:r>
              <a:t>O responsável configura o site do negócio e acompanha a operação no backoffice.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Uma plataforma comum suporta vários negócios, enquanto o catálogo e a identidade de cada organização permanecem próprios. A arquitetura pública mostra apenas responsabilidades funcionais.</a:t>
            </a:r>
          </a:p>
          <a:p xmlns:a="http://schemas.openxmlformats.org/drawingml/2006/main">
            <a:r>
              <a:t>Qualidade e estado: Testes unitários e de integração, verificação dos contratos entre frontend e API e validações responsivas dos templates. Pagamento online é uma extensão futura, não uma capacidade anunciada como concluída.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Interface pública do Ícaro’s Barbershop e telas locais de outubro de 2026. Identificadores da conta administrativa foram excluídos das imagens.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Marta · Her Legacy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A marca de Marta Silva reúne serviços de mentoria e o Her Legacy Planner. O MVP concentra a jornada na descoberta da proposta e no envio de candidaturas e pedidos de contacto.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Website Next.js com apresentação da marca, mentoria, FAQ, contacto e inscrição na lista de espera do planner. Componentes reutilizáveis e conteúdo editorial estruturado.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O Next.js valida o pedido e encaminha-o para um serviço Spring Boot de email. O fluxo notifica a marca e confirma a receção ao interessado, sem persistir os pedidos numa base de 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Conhecer a proposta de mentoria e enviar uma candidatura.</a:t>
            </a:r>
          </a:p>
          <a:p xmlns:a="http://schemas.openxmlformats.org/drawingml/2006/main">
            <a:r>
              <a:t>Inscrever-se para receber novidades sobre o planner.</a:t>
            </a:r>
          </a:p>
          <a:p xmlns:a="http://schemas.openxmlformats.org/drawingml/2006/main">
            <a:r>
              <a:t>Enviar um pedido de contacto e receber uma confirmação por email.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Concentrar o MVP em captação e comunicação reduz a complexidade operacional e mantém o percurso alinhado com os serviços da marca.</a:t>
            </a:r>
          </a:p>
          <a:p xmlns:a="http://schemas.openxmlformats.org/drawingml/2006/main">
            <a:r>
              <a:t>Qualidade e estado: Conteúdo tipado, componentes por domínio e validação de build. A descrição do MVP foi conferida no README e nas páginas atuais.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Registo visual de setembro de 2026. O escopo descrito corresponde ao MVP atual, sem catálogo, carrinho ou pagamentos.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Marta · Her Legacy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A marca de Marta Silva reúne serviços de mentoria e o Her Legacy Planner. O MVP concentra a jornada na descoberta da proposta e no envio de candidaturas e pedidos de contacto.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Website Next.js com apresentação da marca, mentoria, FAQ, contacto e inscrição na lista de espera do planner. Componentes reutilizáveis e conteúdo editorial estruturado.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O Next.js valida o pedido e encaminha-o para um serviço Spring Boot de email. O fluxo notifica a marca e confirma a receção ao interessado, sem persistir os pedidos numa base de 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Conhecer a proposta de mentoria e enviar uma candidatura.</a:t>
            </a:r>
          </a:p>
          <a:p xmlns:a="http://schemas.openxmlformats.org/drawingml/2006/main">
            <a:r>
              <a:t>Inscrever-se para receber novidades sobre o planner.</a:t>
            </a:r>
          </a:p>
          <a:p xmlns:a="http://schemas.openxmlformats.org/drawingml/2006/main">
            <a:r>
              <a:t>Enviar um pedido de contacto e receber uma confirmação por email.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Concentrar o MVP em captação e comunicação reduz a complexidade operacional e mantém o percurso alinhado com os serviços da marca.</a:t>
            </a:r>
          </a:p>
          <a:p xmlns:a="http://schemas.openxmlformats.org/drawingml/2006/main">
            <a:r>
              <a:t>Qualidade e estado: Conteúdo tipado, componentes por domínio e validação de build. A descrição do MVP foi conferida no README e nas páginas atuais.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Registo visual de setembro de 2026. O escopo descrito corresponde ao MVP atual, sem catálogo, carrinho ou pagamentos.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Coimbra MMA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Uma academia de artes marciais em Coimbra precisava apresentar modalidades, horários e contacto com clareza para públicos locais e internacionais.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Website responsivo com páginas de modalidades, informação prática e horários; conteúdo em oito idiomas.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Conteúdo estático gerado por Astro, componentes reutilizáveis e validação das traduções no build. A experiência pública não exige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Descobrir modalidades e informação prática da academia.</a:t>
            </a:r>
          </a:p>
          <a:p xmlns:a="http://schemas.openxmlformats.org/drawingml/2006/main">
            <a:r>
              <a:t>Consultar horários e escolher uma aula.</a:t>
            </a:r>
          </a:p>
          <a:p xmlns:a="http://schemas.openxmlformats.org/drawingml/2006/main">
            <a:r>
              <a:t>Ler o conteúdo no idioma pretendido e iniciar contacto.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Astro gera páginas estáticas e mantém o conteúdo leve. A internacionalização permite atualizar informação comum sem duplicar a estrutura das páginas.</a:t>
            </a:r>
          </a:p>
          <a:p xmlns:a="http://schemas.openxmlformats.org/drawingml/2006/main">
            <a:r>
              <a:t>Qualidade e estado: Validação de traduções no build, metadados, dados estruturados e sitemap. O sistema de conteúdo abrange oito idiomas.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Capturas da interface do projeto.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Coimbra MMA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Uma academia de artes marciais em Coimbra precisava apresentar modalidades, horários e contacto com clareza para públicos locais e internacionais.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Website responsivo com páginas de modalidades, informação prática e horários; conteúdo em oito idiomas.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Conteúdo estático gerado por Astro, componentes reutilizáveis e validação das traduções no build. A experiência pública não exige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Descobrir modalidades e informação prática da academia.</a:t>
            </a:r>
          </a:p>
          <a:p xmlns:a="http://schemas.openxmlformats.org/drawingml/2006/main">
            <a:r>
              <a:t>Consultar horários e escolher uma aula.</a:t>
            </a:r>
          </a:p>
          <a:p xmlns:a="http://schemas.openxmlformats.org/drawingml/2006/main">
            <a:r>
              <a:t>Ler o conteúdo no idioma pretendido e iniciar contacto.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Astro gera páginas estáticas e mantém o conteúdo leve. A internacionalização permite atualizar informação comum sem duplicar a estrutura das páginas.</a:t>
            </a:r>
          </a:p>
          <a:p xmlns:a="http://schemas.openxmlformats.org/drawingml/2006/main">
            <a:r>
              <a:t>Qualidade e estado: Validação de traduções no build, metadados, dados estruturados e sitemap. O sistema de conteúdo abrange oito idiomas.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Capturas da interface do projeto.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Dalliany Tavares Advocacia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Projeto de site multipágina para explicar áreas de atuação e facilitar a descoberta dos serviços, com conteúdo sujeito a confirmação antes da publicação.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Páginas estáticas responsivas, imagens editoriais otimizadas e navegação que funciona sem JavaScript.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Astro SSG e TypeScript, conteúdo estruturado e validações de build. Integrações de contacto ainda dependem de confirmação do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Visitante conhece as áreas de atuação e a profissional.</a:t>
            </a:r>
          </a:p>
          <a:p xmlns:a="http://schemas.openxmlformats.org/drawingml/2006/main">
            <a:r>
              <a:t>Consulta informação sobre o atendimento presencial ou online.</a:t>
            </a:r>
          </a:p>
          <a:p xmlns:a="http://schemas.openxmlformats.org/drawingml/2006/main">
            <a:r>
              <a:t>Navega para o contacto pelos canais confirmados do projeto.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Uma aplicação multipágina estática mantém o conteúdo acessível mesmo sem JavaScript e simplifica a atualização editorial.</a:t>
            </a:r>
          </a:p>
          <a:p xmlns:a="http://schemas.openxmlformats.org/drawingml/2006/main">
            <a:r>
              <a:t>Qualidade e estado: Verificações de conteúdo, HTML e conversão, imagens responsivas e metadados. Projeto de pré-lançamento; a publicação depende da conclusão dos dados e canais do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Capturas locais de pré-lançamento; publicação pendente de validação.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Thiago Santos English Platform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Plataforma para apresentar cursos de inglês, ebooks e produtos digitais e conduzir o visitante até ao pagamento.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Experiência de conteúdo em Eleventy com templates Nunjucks e páginas comerciais.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Fluxos de servidor em Node.js e Express, com integração de pagamento Mercado Pago e Pix.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Visitante conhece os cursos de inglês e os ebooks.</a:t>
            </a:r>
          </a:p>
          <a:p xmlns:a="http://schemas.openxmlformats.org/drawingml/2006/main">
            <a:r>
              <a:t>Seleciona um produto e avança no percurso de compra.</a:t>
            </a:r>
          </a:p>
          <a:p xmlns:a="http://schemas.openxmlformats.org/drawingml/2006/main">
            <a:r>
              <a:t>O servidor coordena a integração de pagamento com Mercado Pago e Pix.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Eleventy serve o conteúdo institucional; Node.js e Express concentram os fluxos que exigem processamento no servidor.</a:t>
            </a:r>
          </a:p>
          <a:p xmlns:a="http://schemas.openxmlformats.org/drawingml/2006/main">
            <a:r>
              <a:t>Qualidade e estado: Projeto privado de cliente, preservado para manutenção. A implementação foi descrita a partir do README atual; não há captura de UI disponível nesta sessão.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Interface não disponível no acervo de capturas.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Uma publicação independente precisava separar a experiência de leitura do fluxo interno de criação e publicação de artigos.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Site editorial público em Astro e interface administrativa em React para rascunhos, imagens e publicação.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API Spring Boot que centraliza o ciclo editorial e persiste artigos em PostgreSQL; implantação com Azure e Cloudflare.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Leitor explora artigos e abre uma página de leitura dedicada.</a:t>
            </a:r>
          </a:p>
          <a:p xmlns:a="http://schemas.openxmlformats.org/drawingml/2006/main">
            <a:r>
              <a:t>Editor cria um rascunho, gere a imagem de capa e publica o conteúdo.</a:t>
            </a:r>
          </a:p>
          <a:p xmlns:a="http://schemas.openxmlformats.org/drawingml/2006/main">
            <a:r>
              <a:t>A mesma API sustenta o fluxo editorial e a disponibilização dos artigos.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Separar o website público do backoffice permite desenvolver a leitura e a operação editorial de forma independente, mantendo regras de publicação no backend.</a:t>
            </a:r>
          </a:p>
          <a:p xmlns:a="http://schemas.openxmlformats.org/drawingml/2006/main">
            <a:r>
              <a:t>Qualidade e estado: Migrações de base de dados, testes da API e do frontend e validação de build. A descrição segue o estado documentado do repositório.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Capturas do site e do fluxo editorial.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Uma publicação independente precisava separar a experiência de leitura do fluxo interno de criação e publicação de artigos.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Site editorial público em Astro e interface administrativa em React para rascunhos, imagens e publicação.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API Spring Boot que centraliza o ciclo editorial e persiste artigos em PostgreSQL; implantação com Azure e Cloudflare.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Leitor explora artigos e abre uma página de leitura dedicada.</a:t>
            </a:r>
          </a:p>
          <a:p xmlns:a="http://schemas.openxmlformats.org/drawingml/2006/main">
            <a:r>
              <a:t>Editor cria um rascunho, gere a imagem de capa e publica o conteúdo.</a:t>
            </a:r>
          </a:p>
          <a:p xmlns:a="http://schemas.openxmlformats.org/drawingml/2006/main">
            <a:r>
              <a:t>A mesma API sustenta o fluxo editorial e a disponibilização dos artigos.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Separar o website público do backoffice permite desenvolver a leitura e a operação editorial de forma independente, mantendo regras de publicação no backend.</a:t>
            </a:r>
          </a:p>
          <a:p xmlns:a="http://schemas.openxmlformats.org/drawingml/2006/main">
            <a:r>
              <a:t>Qualidade e estado: Migrações de base de dados, testes da API e do frontend e validação de build. A descrição segue o estado documentado do repositório.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Capturas do site e do fluxo editorial.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Organizações e docentes precisam criar bancos de questões, montar avaliações e conduzir sessões com participantes em tempo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Aplicação React para autores, anfitriões e participantes, com códigos de acesso, sala de espera e resultados.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API Spring Boot com PostgreSQL e comunicação WebSocket. Organizações separam os dados; modo local permite sessões numa 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Autor organiza bancos de questões e monta uma avaliação.</a:t>
            </a:r>
          </a:p>
          <a:p xmlns:a="http://schemas.openxmlformats.org/drawingml/2006/main">
            <a:r>
              <a:t>Docente inicia a sessão e partilha um código ou QR code.</a:t>
            </a:r>
          </a:p>
          <a:p xmlns:a="http://schemas.openxmlformats.org/drawingml/2006/main">
            <a:r>
              <a:t>Participantes respondem em tempo real; o anfitrião consulta resultados e exporta 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O mesmo domínio serve sessões pela internet e pela rede local, para contextos em que a conectividade externa não está disponível.</a:t>
            </a:r>
          </a:p>
          <a:p xmlns:a="http://schemas.openxmlformats.org/drawingml/2006/main">
            <a:r>
              <a:t>Qualidade e estado: Testes de backend e frontend, fluxo de reconexão e exportação de resultados. A captura disponível mostra apenas a entrada; a galeria não simula os restantes ecrãs.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Captura da tela de entrada; demais fluxos descritos no repositório.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 Repositório público: https://github.com/DaviGama08/assessflow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Sales 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Informação de produtos e políticas comerciais dispersa em mensagens e documentos torna respostas lentas e sujeitas a versões desatualizadas.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Espaço para importar documentos, rever conhecimento processado e consultar respostas com referência à fonte.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Spring Boot, MySQL, processamento local com Ollama e pesquisa vetorial com Qdrant, em evolução.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Importar notas e documentos comerciais mantendo a fonte original.</a:t>
            </a:r>
          </a:p>
          <a:p xmlns:a="http://schemas.openxmlformats.org/drawingml/2006/main">
            <a:r>
              <a:t>Rever o conhecimento extraído antes da consulta.</a:t>
            </a:r>
          </a:p>
          <a:p xmlns:a="http://schemas.openxmlformats.org/drawingml/2006/main">
            <a:r>
              <a:t>Perguntar em linguagem natural e obter uma resposta apoiada no material armazenado.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O processamento local ajuda a manter o material sob controlo do utilizador. A proveniência das fontes faz parte do produto, porque informação comercial pode mudar.</a:t>
            </a:r>
          </a:p>
          <a:p xmlns:a="http://schemas.openxmlformats.org/drawingml/2006/main">
            <a:r>
              <a:t>Qualidade e estado: Projeto em desenvolvimento. As capturas usam dados e respostas de demonstração; não representam uma avaliação de qualidade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Capturas de demonstração com respostas e dados simulados.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Agent Console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Uma consola reutilizável reúne sessões independentes de agentes e mantém o utilizador no controlo de mensagens, papéis e interrupções.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Interface de terminal com perfis de equipa, estado dos agentes, buffer de composição e comandos.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Java 21 coordena subprocessos, concorrência e comunicação JSON-RPC. JLine fornece a interação no terminal e Gson trata os 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Escolher um diretório de trabalho e um perfil.</a:t>
            </a:r>
          </a:p>
          <a:p xmlns:a="http://schemas.openxmlformats.org/drawingml/2006/main">
            <a:r>
              <a:t>Enviar um pedido a um agente e acompanhar o estado.</a:t>
            </a:r>
          </a:p>
          <a:p xmlns:a="http://schemas.openxmlformats.org/drawingml/2006/main">
            <a:r>
              <a:t>Encaminhar uma resposta ou interromper uma sessão de forma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Manter a coordenação determinística em Java e cada conversa separada torna o controlo do utilizador visível.</a:t>
            </a:r>
          </a:p>
          <a:p xmlns:a="http://schemas.openxmlformats.org/drawingml/2006/main">
            <a:r>
              <a:t>Qualidade e estado: Testes de perfis, identificadores, papéis e comandos. As integrações com provedores exigem testes reais autenticados.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Interface de terminal; descrição baseada no README atual.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Skevia · Website institucional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Website institucional que estabelece a presença da marca e uma base consistente para o desenvolvimento das páginas públicas.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Página inicial mínima em Astro, com tipografia local, identidade visual e componentes de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Geração estática com Astro e TypeScript. O website institucional é independente do produto de agendamento.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Apresentar a identidade institucional.</a:t>
            </a:r>
          </a:p>
          <a:p xmlns:a="http://schemas.openxmlformats.org/drawingml/2006/main">
            <a:r>
              <a:t>Evoluir o conteúdo público sobre uma base estática.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A página institucional é mantida separada da aplicação de agendamento para preservar responsabilidades e ciclos de publicação.</a:t>
            </a:r>
          </a:p>
          <a:p xmlns:a="http://schemas.openxmlformats.org/drawingml/2006/main">
            <a:r>
              <a:t>Qualidade e estado: Verificações de build, integridade de marca e exclusão de páginas internas da saída pública.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Fundação implementada; desenvolvimento visual completo previsto para a fase seguinte.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Distributed Quiz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Projeto académico para gerir questionários entre professor e alunos, mantendo sessões disponíveis perante a falha de um serviço.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Clientes JavaFX para docentes e participantes. As imagens mostram um protótipo web posterior, não a interface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Serviços Java com descoberta, replicação primário/backup, heartbeat, failover e persistência SQLite; TCP, UDP e multicast.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Professor cria perguntas e disponibiliza uma sessão a alunos.</a:t>
            </a:r>
          </a:p>
          <a:p xmlns:a="http://schemas.openxmlformats.org/drawingml/2006/main">
            <a:r>
              <a:t>Alunos entram na sessão, recebem perguntas e enviam respostas.</a:t>
            </a:r>
          </a:p>
          <a:p xmlns:a="http://schemas.openxmlformats.org/drawingml/2006/main">
            <a:r>
              <a:t>O sistema recupera o serviço e a sessão quando um servidor deixa de responder.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A replicação e a descoberta de serviços tornam observáveis os desafios de coordenação, falha e recuperação num sistema distribuído.</a:t>
            </a:r>
          </a:p>
          <a:p xmlns:a="http://schemas.openxmlformats.org/drawingml/2006/main">
            <a:r>
              <a:t>Qualidade e estado: Implementação académica em Java/JavaFX com TCP, UDP, multicast e SQLite. As capturas são de um protótipo web posterior, identificado em cada imagem.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Imagens: protótipo web; aplicação acadêmica original em JavaFX.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 Repositório público: https://github.com/DaviGama08/distributed-quiz-platform-isec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Distributed Quiz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Projeto académico para gerir questionários entre professor e alunos, mantendo sessões disponíveis perante a falha de um serviço.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Clientes JavaFX para docentes e participantes. As imagens mostram um protótipo web posterior, não a interface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Serviços Java com descoberta, replicação primário/backup, heartbeat, failover e persistência SQLite; TCP, UDP e multicast.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Professor cria perguntas e disponibiliza uma sessão a alunos.</a:t>
            </a:r>
          </a:p>
          <a:p xmlns:a="http://schemas.openxmlformats.org/drawingml/2006/main">
            <a:r>
              <a:t>Alunos entram na sessão, recebem perguntas e enviam respostas.</a:t>
            </a:r>
          </a:p>
          <a:p xmlns:a="http://schemas.openxmlformats.org/drawingml/2006/main">
            <a:r>
              <a:t>O sistema recupera o serviço e a sessão quando um servidor deixa de responder.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A replicação e a descoberta de serviços tornam observáveis os desafios de coordenação, falha e recuperação num sistema distribuído.</a:t>
            </a:r>
          </a:p>
          <a:p xmlns:a="http://schemas.openxmlformats.org/drawingml/2006/main">
            <a:r>
              <a:t>Qualidade e estado: Implementação académica em Java/JavaFX com TCP, UDP, multicast e SQLite. As capturas são de um protótipo web posterior, identificado em cada imagem.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Imagens: protótipo web; aplicação acadêmica original em JavaFX.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 Repositório público: https://github.com/DaviGama08/distributed-quiz-platform-isec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MyMEDIA Marketplace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Projeto de marketplace para gerir catálogo, clientes e operações comerciais numa mesma base de negócio.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Loja pública, back office em Blazor e cliente MAUI Hybrid, com fluxos de catálogo, carrinho e favoritos.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API REST em ASP.NET Core, Entity Framework Core e SQL Server, com autenticação e papéis.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Cliente explora o catálogo e gere carrinho e favoritos.</a:t>
            </a:r>
          </a:p>
          <a:p xmlns:a="http://schemas.openxmlformats.org/drawingml/2006/main">
            <a:r>
              <a:t>Operador mantém produtos e operações comerciais no backoffice.</a:t>
            </a:r>
          </a:p>
          <a:p xmlns:a="http://schemas.openxmlformats.org/drawingml/2006/main">
            <a:r>
              <a:t>Uma API comum é consumida pelas interfaces web e pelo cliente híbrido.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Uma API central evita duplicar regras entre a loja, o backoffice e a aplicação híbrida.</a:t>
            </a:r>
          </a:p>
          <a:p xmlns:a="http://schemas.openxmlformats.org/drawingml/2006/main">
            <a:r>
              <a:t>Qualidade e estado: Projeto académico em equipa, com ASP.NET Core, Entity Framework Core e SQL Server. As capturas disponíveis mostram a loja e a administração.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Capturas das interfaces acadêmicas.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MyMEDIA Marketplace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Projeto de marketplace para gerir catálogo, clientes e operações comerciais numa mesma base de negócio.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Loja pública, back office em Blazor e cliente MAUI Hybrid, com fluxos de catálogo, carrinho e favoritos.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API REST em ASP.NET Core, Entity Framework Core e SQL Server, com autenticação e papéis.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Cliente explora o catálogo e gere carrinho e favoritos.</a:t>
            </a:r>
          </a:p>
          <a:p xmlns:a="http://schemas.openxmlformats.org/drawingml/2006/main">
            <a:r>
              <a:t>Operador mantém produtos e operações comerciais no backoffice.</a:t>
            </a:r>
          </a:p>
          <a:p xmlns:a="http://schemas.openxmlformats.org/drawingml/2006/main">
            <a:r>
              <a:t>Uma API comum é consumida pelas interfaces web e pelo cliente híbrido.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Uma API central evita duplicar regras entre a loja, o backoffice e a aplicação híbrida.</a:t>
            </a:r>
          </a:p>
          <a:p xmlns:a="http://schemas.openxmlformats.org/drawingml/2006/main">
            <a:r>
              <a:t>Qualidade e estado: Projeto académico em equipa, com ASP.NET Core, Entity Framework Core e SQL Server. As capturas disponíveis mostram a loja e a administração.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Capturas das interfaces acadêmicas.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JavaFX Chess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Aplicação desktop que implementa partidas completas e permite continuar jogos guardados.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Aplicação JavaFX para dois jogadores locais, com tabuleiro, aprendizagem de movimentos, editor de posições e histórico. A galeria mostra uma exploração web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Lógica Java para validação de jogadas, xeque, roque, desfazer/refazer e persistência, organizada em MVC.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Jogar uma partida local com validação das regras.</a:t>
            </a:r>
          </a:p>
          <a:p xmlns:a="http://schemas.openxmlformats.org/drawingml/2006/main">
            <a:r>
              <a:t>Explorar movimentos legais no modo de aprendizagem.</a:t>
            </a:r>
          </a:p>
          <a:p xmlns:a="http://schemas.openxmlformats.org/drawingml/2006/main">
            <a:r>
              <a:t>Guardar a partida, editar posições e desfazer ou refazer jogadas.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MVC separa a interface do modelo de xadrez. Memento preserva estados de jogo para o histórico reversível.</a:t>
            </a:r>
          </a:p>
          <a:p xmlns:a="http://schemas.openxmlformats.org/drawingml/2006/main">
            <a:r>
              <a:t>Qualidade e estado: Maven e JUnit para regras e domínio. O projeto original não anuncia partidas online nem adversário controlado por computador.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Protótipo web de apresentação. O trabalho académico original é uma aplicação JavaFX para dois jogadores locais.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 Repositório público: https://github.com/davigama-academic/javafx-chess-isec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SurpriseMe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Aplicação para gerir destinatários, ocasiões e histórico de presentes, ajudando a evitar repetições.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Aplicação JavaFX para organização de perfis, eventos e sugestões. Imagens mostram uma exploração web da interface.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Lógica Java e persistência local para relacionar destinatários, eventos e presentes.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Gerir destinatários com interesses e preferências.</a:t>
            </a:r>
          </a:p>
          <a:p xmlns:a="http://schemas.openxmlformats.org/drawingml/2006/main">
            <a:r>
              <a:t>Organizar datas e consultar o histórico de presentes.</a:t>
            </a:r>
          </a:p>
          <a:p xmlns:a="http://schemas.openxmlformats.org/drawingml/2006/main">
            <a:r>
              <a:t>Obter sugestões de presente e de mensagem para um cartão.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Modelo de domínio, serviços de aplicação e persistência local são separados da interface e do adaptador de sugestões.</a:t>
            </a:r>
          </a:p>
          <a:p xmlns:a="http://schemas.openxmlformats.org/drawingml/2006/main">
            <a:r>
              <a:t>Qualidade e estado: Projeto académico em equipa com testes do domínio, histórias de utilizador e planeamento incremental. A galeria é uma exploração web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Imagens: exploração web da UI; projeto original em JavaFX.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 Repositório público: https://github.com/davigama-academic/surpriseme-gift-assistant-isec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Unix Topic Message Broker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Estudo prático de comunicação concorrente e entrega persistente de mensagens num sistema Unix.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Clientes de linha de comandos para publicar e subscrever tópicos; não possui interface gráfica.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Gestor central em C com named pipes POSIX, pthreads, select e sinais.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Um cliente subscreve os tópicos que pretende acompanhar.</a:t>
            </a:r>
          </a:p>
          <a:p xmlns:a="http://schemas.openxmlformats.org/drawingml/2006/main">
            <a:r>
              <a:t>Outro cliente publica uma mensagem num tópico.</a:t>
            </a:r>
          </a:p>
          <a:p xmlns:a="http://schemas.openxmlformats.org/drawingml/2006/main">
            <a:r>
              <a:t>O gestor coordena entrega concorrente e mensagens persistentes.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Um gestor central permite estudar a coordenação de vários processos e o uso de IPC em Unix.</a:t>
            </a:r>
          </a:p>
          <a:p xmlns:a="http://schemas.openxmlformats.org/drawingml/2006/main">
            <a:r>
              <a:t>Qualidade e estado: Projeto de sistemas operativos em C. A interface é de terminal; o diagrama representa o sistema sem inventar uma UI gráfica.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Projeto de linha de comandos; diagrama público em substituição a captura.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Windows IPC Word Game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Negócio: Projeto académico para aplicar comunicação e sincronização entre jogadores humanos, bots e monitorização.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Interface: Clientes nativos e painel de monitorização Win32.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Backend: C e API Win32 com named pipes, memória partilhada e threads.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de uso:</a:t>
            </a:r>
          </a:p>
          <a:p xmlns:a="http://schemas.openxmlformats.org/drawingml/2006/main">
            <a:r>
              <a:t>Jogadores humanos participam num jogo de palavras.</a:t>
            </a:r>
          </a:p>
          <a:p xmlns:a="http://schemas.openxmlformats.org/drawingml/2006/main">
            <a:r>
              <a:t>Bots autónomos interagem com a mesma sessão.</a:t>
            </a:r>
          </a:p>
          <a:p xmlns:a="http://schemas.openxmlformats.org/drawingml/2006/main">
            <a:r>
              <a:t>Um painel Win32 acompanha o estado da aplicação.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Decisão: A separação em processos torna explícita a necessidade de comunicação e sincronização.</a:t>
            </a:r>
          </a:p>
          <a:p xmlns:a="http://schemas.openxmlformats.org/drawingml/2006/main">
            <a:r>
              <a:t>Qualidade e estado: Projeto académico em C e Win32. Não há captura do programa original no acervo disponível.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Imagens: Sem captura de interface no acervo atual.</a:t>
            </a:r>
          </a:p>
          <a:p xmlns:a="http://schemas.openxmlformats.org/drawingml/2006/main">
            <a:r>
              <a:t>Fontes: documentação do projeto e capturas do acervo. Perfil público https://github.com/DaviGama08. Revisão de conteúdo: 27 de outubro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Formação e estágio conferidos no README público do perfil DaviGama08, consultado em 27/10/2026. https://github.com/DaviGama08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104a506c14b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27bd6bd9b4a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77d7dc7ae40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640a782e545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0b2b0e94f74c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7f4e2a69d54d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93353C-E542-41D3-AAB4-1803E534CB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A72E0F3-F25A-4CB0-B2CD-6F5F52D28C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489A98-6615-4E5E-B10B-786FAD1670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78F7B3-A353-4207-9EA9-D1E56A5AD5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2CB05A-3825-4CF6-BB1F-0C6B95A653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92A2BC-2368-48D3-BB3D-CB7FB176FA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CCE056-5976-4847-A166-A4915C5CB2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B0BD18-5324-4A10-B9EA-35ABE3FFFDF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A03A91-006E-4261-85E4-7763488860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AAD4A1-5A61-4D10-914F-8F963108D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f2d22e3eb24170" /><Relationship Type="http://schemas.openxmlformats.org/officeDocument/2006/relationships/slideLayout" Target="/ppt/slideLayouts/slideLayout1.xml" Id="Re23990e9f1544179" /><Relationship Type="http://schemas.openxmlformats.org/officeDocument/2006/relationships/slideLayout" Target="/ppt/slideLayouts/slideLayout2.xml" Id="R7ba0fdc6ec0746af" /><Relationship Type="http://schemas.openxmlformats.org/officeDocument/2006/relationships/slideLayout" Target="/ppt/slideLayouts/slideLayout3.xml" Id="R27e1edf10d3b4b50" /><Relationship Type="http://schemas.openxmlformats.org/officeDocument/2006/relationships/slideLayout" Target="/ppt/slideLayouts/slideLayout4.xml" Id="Rce105beb5c404efb" /><Relationship Type="http://schemas.openxmlformats.org/officeDocument/2006/relationships/slideLayout" Target="/ppt/slideLayouts/slideLayout5.xml" Id="R232a190a2e4146f2" /><Relationship Type="http://schemas.openxmlformats.org/officeDocument/2006/relationships/slideLayout" Target="/ppt/slideLayouts/slideLayout6.xml" Id="R363264ebe56c48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3990e9f1544179"/>
    <p:sldLayoutId xmlns:r="http://schemas.openxmlformats.org/officeDocument/2006/relationships" id="2147483650" r:id="R7ba0fdc6ec0746af"/>
    <p:sldLayoutId xmlns:r="http://schemas.openxmlformats.org/officeDocument/2006/relationships" id="2147483651" r:id="R27e1edf10d3b4b50"/>
    <p:sldLayoutId xmlns:r="http://schemas.openxmlformats.org/officeDocument/2006/relationships" id="2147483652" r:id="Rce105beb5c404efb"/>
    <p:sldLayoutId xmlns:r="http://schemas.openxmlformats.org/officeDocument/2006/relationships" id="2147483653" r:id="R232a190a2e4146f2"/>
    <p:sldLayoutId xmlns:r="http://schemas.openxmlformats.org/officeDocument/2006/relationships" id="2147483654" r:id="R363264ebe56c48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Davi Gama 2026">
      <a:dk1>
        <a:srgbClr val="181816"/>
      </a:dk1>
      <a:lt1>
        <a:srgbClr val="FFFFFF"/>
      </a:lt1>
      <a:dk2>
        <a:srgbClr val="34332D"/>
      </a:dk2>
      <a:lt2>
        <a:srgbClr val="F5F3ED"/>
      </a:lt2>
      <a:accent1>
        <a:srgbClr val="80623E"/>
      </a:accent1>
      <a:accent2>
        <a:srgbClr val="181816"/>
      </a:accent2>
      <a:accent3>
        <a:srgbClr val="C9B798"/>
      </a:accent3>
      <a:accent4>
        <a:srgbClr val="65655D"/>
      </a:accent4>
      <a:accent5>
        <a:srgbClr val="EAE5DA"/>
      </a:accent5>
      <a:accent6>
        <a:srgbClr val="52665B"/>
      </a:accent6>
      <a:hlink>
        <a:srgbClr val="80623E"/>
      </a:hlink>
      <a:folHlink>
        <a:srgbClr val="80623E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Davi Gam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11aefd247245c0" /><Relationship Type="http://schemas.openxmlformats.org/officeDocument/2006/relationships/image" Target="/ppt/media/image.bin" Id="R51a63c11be2647fe" /><Relationship Type="http://schemas.openxmlformats.org/officeDocument/2006/relationships/notesSlide" Target="/ppt/notesSlides/notesSlide1.xml" Id="R835e1981b11241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ff5dc50e35435f" /><Relationship Type="http://schemas.openxmlformats.org/officeDocument/2006/relationships/notesSlide" Target="/ppt/notesSlides/notesSlide2.xml" Id="Rde66d631b4a341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77e773b54c4149" /><Relationship Type="http://schemas.openxmlformats.org/officeDocument/2006/relationships/image" Target="/ppt/media/image2.bin" Id="R57b3faa92c064e5d" /><Relationship Type="http://schemas.openxmlformats.org/officeDocument/2006/relationships/notesSlide" Target="/ppt/notesSlides/notesSlide3.xml" Id="Rf1483c98e17543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41493843f44fc8" /><Relationship Type="http://schemas.openxmlformats.org/officeDocument/2006/relationships/image" Target="/ppt/media/image3.bin" Id="R9cf308c0274145ba" /><Relationship Type="http://schemas.openxmlformats.org/officeDocument/2006/relationships/image" Target="/ppt/media/image4.bin" Id="R4fd45061d1f64849" /><Relationship Type="http://schemas.openxmlformats.org/officeDocument/2006/relationships/notesSlide" Target="/ppt/notesSlides/notesSlide4.xml" Id="Rd650c55e2a0641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53659476be4af7" /><Relationship Type="http://schemas.openxmlformats.org/officeDocument/2006/relationships/notesSlide" Target="/ppt/notesSlides/notesSlide5.xml" Id="Rd414a8ae24a74d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d4ff45df3e4937" /><Relationship Type="http://schemas.openxmlformats.org/officeDocument/2006/relationships/image" Target="/ppt/media/image5.bin" Id="Rc11aa1f231914ed4" /><Relationship Type="http://schemas.openxmlformats.org/officeDocument/2006/relationships/notesSlide" Target="/ppt/notesSlides/notesSlide6.xml" Id="R5d5d8ef0f48e4a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ce788f784a4adc" /><Relationship Type="http://schemas.openxmlformats.org/officeDocument/2006/relationships/notesSlide" Target="/ppt/notesSlides/notesSlide7.xml" Id="R9013831e01ab47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09b8dad6c842bb" /><Relationship Type="http://schemas.openxmlformats.org/officeDocument/2006/relationships/image" Target="/ppt/media/image6.bin" Id="R7381047a8741420b" /><Relationship Type="http://schemas.openxmlformats.org/officeDocument/2006/relationships/notesSlide" Target="/ppt/notesSlides/notesSlide8.xml" Id="R1131b529a71f4e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b94dd1fbe0498c" /><Relationship Type="http://schemas.openxmlformats.org/officeDocument/2006/relationships/notesSlide" Target="/ppt/notesSlides/notesSlide9.xml" Id="R3d0ff8ccb19a4f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93c2d6b1e14064" /><Relationship Type="http://schemas.openxmlformats.org/officeDocument/2006/relationships/image" Target="/ppt/media/image7.bin" Id="Rb8ccbd38ed584600" /><Relationship Type="http://schemas.openxmlformats.org/officeDocument/2006/relationships/notesSlide" Target="/ppt/notesSlides/notesSlide10.xml" Id="Re8f136cdfd264c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5abb87729148ba" /><Relationship Type="http://schemas.openxmlformats.org/officeDocument/2006/relationships/notesSlide" Target="/ppt/notesSlides/notesSlide11.xml" Id="R791c4953e54749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1b3d6bc8484e01" /><Relationship Type="http://schemas.openxmlformats.org/officeDocument/2006/relationships/image" Target="/ppt/media/image8.bin" Id="R6ca2234fb337412b" /><Relationship Type="http://schemas.openxmlformats.org/officeDocument/2006/relationships/notesSlide" Target="/ppt/notesSlides/notesSlide12.xml" Id="R8001c13e2dc54a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28cb9f501a4042" /><Relationship Type="http://schemas.openxmlformats.org/officeDocument/2006/relationships/notesSlide" Target="/ppt/notesSlides/notesSlide13.xml" Id="Ra51a2d39f03040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578b29c3dd4802" /><Relationship Type="http://schemas.openxmlformats.org/officeDocument/2006/relationships/image" Target="/ppt/media/image9.bin" Id="Ree20d1cf0663404e" /><Relationship Type="http://schemas.openxmlformats.org/officeDocument/2006/relationships/notesSlide" Target="/ppt/notesSlides/notesSlide14.xml" Id="R626c0f5e38ac4c3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8f4629353348b7" /><Relationship Type="http://schemas.openxmlformats.org/officeDocument/2006/relationships/image" Target="/ppt/media/image10.bin" Id="R5520f5bb48cf46f1" /><Relationship Type="http://schemas.openxmlformats.org/officeDocument/2006/relationships/notesSlide" Target="/ppt/notesSlides/notesSlide15.xml" Id="Rf8e544659e3e4b6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01556ba7b94eff" /><Relationship Type="http://schemas.openxmlformats.org/officeDocument/2006/relationships/notesSlide" Target="/ppt/notesSlides/notesSlide16.xml" Id="R49b7a9029ff74c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8f4587c6e44197" /><Relationship Type="http://schemas.openxmlformats.org/officeDocument/2006/relationships/notesSlide" Target="/ppt/notesSlides/notesSlide17.xml" Id="Rec533ea8f8214fa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731570dff042dd" /><Relationship Type="http://schemas.openxmlformats.org/officeDocument/2006/relationships/hyperlink" Target="https://github.com/davigama-academic" TargetMode="External" Id="R7296a83dc3cb4912" /><Relationship Type="http://schemas.openxmlformats.org/officeDocument/2006/relationships/notesSlide" Target="/ppt/notesSlides/notesSlide18.xml" Id="Rd6ad01c758c94d5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32e363fc33479d" /><Relationship Type="http://schemas.openxmlformats.org/officeDocument/2006/relationships/image" Target="/ppt/media/image11.bin" Id="Rd73e581b9575441b" /><Relationship Type="http://schemas.openxmlformats.org/officeDocument/2006/relationships/notesSlide" Target="/ppt/notesSlides/notesSlide19.xml" Id="Rc36da673006c4b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e7b5a94d4a46ba" /><Relationship Type="http://schemas.openxmlformats.org/officeDocument/2006/relationships/notesSlide" Target="/ppt/notesSlides/notesSlide20.xml" Id="R8f48e3801a9e4a0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6681db686f4e4d" /><Relationship Type="http://schemas.openxmlformats.org/officeDocument/2006/relationships/image" Target="/ppt/media/image12.bin" Id="R565c8cc648504a75" /><Relationship Type="http://schemas.openxmlformats.org/officeDocument/2006/relationships/notesSlide" Target="/ppt/notesSlides/notesSlide21.xml" Id="R4df6979dc419486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7127e8d27145cf" /><Relationship Type="http://schemas.openxmlformats.org/officeDocument/2006/relationships/notesSlide" Target="/ppt/notesSlides/notesSlide22.xml" Id="R245886c528874e4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0c5e0795324ed8" /><Relationship Type="http://schemas.openxmlformats.org/officeDocument/2006/relationships/image" Target="/ppt/media/image13.bin" Id="R69759d9be7c34dee" /><Relationship Type="http://schemas.openxmlformats.org/officeDocument/2006/relationships/notesSlide" Target="/ppt/notesSlides/notesSlide23.xml" Id="Rc9baced8768c45b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f6b89ec11946bd" /><Relationship Type="http://schemas.openxmlformats.org/officeDocument/2006/relationships/image" Target="/ppt/media/image14.bin" Id="R467bb05380a742d1" /><Relationship Type="http://schemas.openxmlformats.org/officeDocument/2006/relationships/notesSlide" Target="/ppt/notesSlides/notesSlide24.xml" Id="Rbde209919eb44b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81a5c4d116430f" /><Relationship Type="http://schemas.openxmlformats.org/officeDocument/2006/relationships/notesSlide" Target="/ppt/notesSlides/notesSlide25.xml" Id="Rab742f6027c84cc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6c02f607e460d" /><Relationship Type="http://schemas.openxmlformats.org/officeDocument/2006/relationships/notesSlide" Target="/ppt/notesSlides/notesSlide26.xml" Id="Rb99222dc889d427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e8449e969f4009" /><Relationship Type="http://schemas.openxmlformats.org/officeDocument/2006/relationships/notesSlide" Target="/ppt/notesSlides/notesSlide27.xml" Id="R4cdf931bcb13480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b65de181034cea" /><Relationship Type="http://schemas.openxmlformats.org/officeDocument/2006/relationships/notesSlide" Target="/ppt/notesSlides/notesSlide28.xml" Id="R834485cb7a1c44a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c883a662de4fa0" /><Relationship Type="http://schemas.openxmlformats.org/officeDocument/2006/relationships/notesSlide" Target="/ppt/notesSlides/notesSlide29.xml" Id="R5a3d1932e0424f3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1f919ce8624fff" /><Relationship Type="http://schemas.openxmlformats.org/officeDocument/2006/relationships/hyperlink" Target="mailto:davi.torres00pro@gmail.com" TargetMode="External" Id="R7e5ab2430e8047e4" /><Relationship Type="http://schemas.openxmlformats.org/officeDocument/2006/relationships/hyperlink" Target="https://github.com/DaviGama08" TargetMode="External" Id="R96e6634b7ce3453c" /><Relationship Type="http://schemas.openxmlformats.org/officeDocument/2006/relationships/hyperlink" Target="https://www.linkedin.com/in/davinasser/" TargetMode="External" Id="R60f912fc5f024f18" /><Relationship Type="http://schemas.openxmlformats.org/officeDocument/2006/relationships/notesSlide" Target="/ppt/notesSlides/notesSlide30.xml" Id="Ra70b3c4c4f4847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1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C00E2-1BA5-4FF0-8E17-F1B83A3E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rPr>
              <a:t>PORTFÓLIO PROFISSIONAL &amp; ACADÉMICO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E9F23-BAA2-452D-AE6F-7E5FD719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64143-17B7-4404-A73E-D0D42E0C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905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6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66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66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66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66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66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66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66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66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66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66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pPr>
            <a:r>
              <a:rPr sz="6600" b="0">
                <a:solidFill>
                  <a:srgbClr val="FFFFFF"/>
                </a:solidFill>
                <a:latin typeface="Noto Serif"/>
                <a:ea typeface="Noto Serif"/>
                <a:cs typeface="Noto Serif"/>
              </a:rPr>
              <a:t>Davi</a:t>
            </a:r>
          </a:p>
          <a:p xmlns:a="http://schemas.openxmlformats.org/drawingml/2006/main">
            <a:pPr algn="l">
              <a:defRPr sz="66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pPr>
            <a:r>
              <a:rPr sz="6600" b="0">
                <a:solidFill>
                  <a:srgbClr val="FFFFFF"/>
                </a:solidFill>
                <a:latin typeface="Noto Serif"/>
                <a:ea typeface="Noto Serif"/>
                <a:cs typeface="Noto Serif"/>
              </a:rPr>
              <a:t>Gama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6294B-FF5B-48FC-A19B-9E42FE86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025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025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025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025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025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025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025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025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025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C9B798"/>
                </a:solidFill>
                <a:latin typeface="Noto Sans"/>
                <a:ea typeface="Noto Sans"/>
                <a:cs typeface="Noto Sans"/>
              </a:rPr>
              <a:t>Engenharia de software</a:t>
            </a:r>
          </a:p>
          <a:p xmlns:a="http://schemas.openxmlformats.org/drawingml/2006/main">
            <a:pPr algn="l">
              <a:defRPr sz="2025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C9B798"/>
                </a:solidFill>
                <a:latin typeface="Noto Sans"/>
                <a:ea typeface="Noto Sans"/>
                <a:cs typeface="Noto Sans"/>
              </a:rPr>
              <a:t>Backend &amp; desenvolvimento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239BF-FDD2-4098-BF78-7B654231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BC8B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CBC8B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CBC8B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CBC8B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CBC8B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CBC8B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CBC8B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CBC8B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CBC8B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CBC8B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BC8BE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CBC8BE"/>
                </a:solidFill>
                <a:latin typeface="Noto Sans"/>
                <a:ea typeface="Noto Sans"/>
                <a:cs typeface="Noto Sans"/>
              </a:rPr>
              <a:t>Projetos de clientes, produtos independentes</a:t>
            </a:r>
          </a:p>
          <a:p xmlns:a="http://schemas.openxmlformats.org/drawingml/2006/main">
            <a:pPr algn="l">
              <a:defRPr sz="1575" b="0">
                <a:solidFill>
                  <a:srgbClr val="CBC8BE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CBC8BE"/>
                </a:solidFill>
                <a:latin typeface="Noto Sans"/>
                <a:ea typeface="Noto Sans"/>
                <a:cs typeface="Noto Sans"/>
              </a:rPr>
              <a:t>e sistemas desenvolvidos no ISEC.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02805-1E62-4D1C-86CA-6581F653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019175"/>
            <a:ext cx="534352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D8"/>
          </a:solidFill>
          <a:ln xmlns:a="http://schemas.openxmlformats.org/drawingml/2006/main" w="0">
            <a:noFill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9D16B-3975-43A1-9ADC-5EA317697F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63c11be2647fe"/>
          <a:stretch xmlns:a="http://schemas.openxmlformats.org/drawingml/2006/main"/>
        </p:blipFill>
        <p:spPr>
          <a:xfrm xmlns:a="http://schemas.openxmlformats.org/drawingml/2006/main">
            <a:off x="6391275" y="1778198"/>
            <a:ext cx="5038725" cy="314920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8FBD9-6CE6-4B4B-A7BA-57F5DBE9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876925"/>
            <a:ext cx="503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2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2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2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2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2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2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2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2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2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C9B798"/>
                </a:solidFill>
                <a:latin typeface="Noto Sans"/>
                <a:ea typeface="Noto Sans"/>
                <a:cs typeface="Noto Sans"/>
              </a:rPr>
              <a:t>Skevia · Ícaro’s Barbershop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93914-87A8-4955-99B1-6640FBC6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76975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B2AE9F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050" b="0">
                <a:solidFill>
                  <a:srgbClr val="B2AE9F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050" b="0">
                <a:solidFill>
                  <a:srgbClr val="B2AE9F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050" b="0">
                <a:solidFill>
                  <a:srgbClr val="B2AE9F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050" b="0">
                <a:solidFill>
                  <a:srgbClr val="B2AE9F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050" b="0">
                <a:solidFill>
                  <a:srgbClr val="B2AE9F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050" b="0">
                <a:solidFill>
                  <a:srgbClr val="B2AE9F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050" b="0">
                <a:solidFill>
                  <a:srgbClr val="B2AE9F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050" b="0">
                <a:solidFill>
                  <a:srgbClr val="B2AE9F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050" b="0">
                <a:solidFill>
                  <a:srgbClr val="B2AE9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2AE9F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B2AE9F"/>
                </a:solidFill>
                <a:latin typeface="Noto Sans"/>
                <a:ea typeface="Noto Sans"/>
                <a:cs typeface="Noto Sans"/>
              </a:rPr>
              <a:t>Coimbra, Portugal ·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8418098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77D3CC-9F9B-4A1F-A444-CA8D4EDA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ÍNDICE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A36EA-9979-4A7F-8191-C4FB1341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B6F2E-46B5-45B6-A7C3-8A4E2FFA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Projetos e qualificações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D967B-09A6-40BF-8EF4-53C1FA4C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Organização alinhada com o perfil GitHub e a coleção académica.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9565B-BEC3-4E76-A967-5E0D2EAA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PROFISSIONAIS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B39EE-63C2-4CDE-8F9C-FC69448D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520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ACADÉMICOS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36BF5-6198-4A29-8B57-8BC947B6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Skevia · Agendamento multi-tenant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B47BD-62D0-4DE9-BF3E-6D95FB1B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7527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3AC25-8972-4CB0-A7BC-FCF6BA69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Marta · Her Legacy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A1BDC-60AE-4BBD-BBAC-208C5852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670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B376E-9F45-4CF0-BCF1-B770F295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Coimbra MMA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9DC4A-C877-41E3-8640-AFDAA376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3813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DBCC8-1721-4278-ACF4-9F556E38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Dalliany Tavares Advocacia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77966-4889-48D8-AF46-6BEA1D15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6957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8C621-391A-42D4-B4D3-B0093932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Thiago Santos English Platform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694F5-B388-41F5-BAF4-7446ECF3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100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CEC39-9682-4276-B286-DB1FC52C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503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3799E-49E7-4B82-81D9-4A490D71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324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DC63F-5A4D-4C7F-B869-C470BC82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AssessFlow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3C63C6-B462-47CF-8E80-DC7A73CB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6386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59B9F-5772-4090-A6F0-9BADBADB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Local Sales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327BDF-29DE-4528-A30E-3C308676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9530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C1ABC1-E6F4-448C-A427-6FE74C5E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AI Agent Console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B5B882-C83C-49AA-B4A0-821A8932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2673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21BC73-9DE8-433E-9205-F8F6402A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Skevia · Website institucional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D6FA7C-5A36-4592-8D0B-4FD8B297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5816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17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C937C7-0B6B-4A39-ABA8-EE807E29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52725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Distributed Quiz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F85D61-73E5-4ADE-9BEA-1F5EA959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75272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19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816021-7CEB-47BB-9A71-AF24EBF2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MyMEDIA Marketplace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FDCD7C-A6EF-4EDF-B9F2-2310E261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143250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21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32EC2A-D7D0-4A58-838A-A6E90429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33775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JavaFX Chess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181D9F-9C85-4D0C-A369-768ACA8F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5337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23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7A4214-E08C-4F44-9DFC-4BF00156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SurpriseMe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16D3E4-F311-49CF-91BD-B3370595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924300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24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C7C384-536C-46D0-8CED-B85545B8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14825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Unix Topic Message Broker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1C5E2A-208E-421E-9856-A2567FAC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31482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25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0A705E-4A0C-4E2F-AFAA-0EE79D03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Windows IPC Word Game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93703C-7E6F-400D-BBBC-B6470461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705350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B02F26-2E6A-4F30-9398-0957C4F1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34025"/>
            <a:ext cx="445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Formação, experiência e contacto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518EF1-FD94-4A45-9233-A7BD7A8E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53402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732998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7D71C-8624-4918-8355-7CD17315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PROFISSIONAL · PRODUTO INDEPENDENTE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3E7F0-EA17-4671-9C38-4B0DC443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06D98-7D9B-4E05-A52A-FFF79D8C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Skevia · Agendamento multi-tenant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DFC68-1799-4E89-B6F7-7B63F336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Website, marcação online e gestão diária para negócios de serviços.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47EAF-A7EB-467F-87B1-454CE801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12FBF-1F61-442A-84ED-509A309088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3faa92c064e5d"/>
          <a:stretch xmlns:a="http://schemas.openxmlformats.org/drawingml/2006/main"/>
        </p:blipFill>
        <p:spPr>
          <a:xfrm xmlns:a="http://schemas.openxmlformats.org/drawingml/2006/main">
            <a:off x="1314450" y="2390775"/>
            <a:ext cx="5257800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5AF98-5DB6-4BFB-B8D5-6AE06D06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398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CONTEXTO &amp; UTILIZAÇÃO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19C87-969B-4D82-8D17-4C5B175D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3981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Uma plataforma para apresentar cada negócio e gerir marcações. O Ícaro’s Barbershop é um caso aplicado, com serviços, pacotes e agenda própria.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B07DF-85D1-4C53-8F3C-F83B2180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38675"/>
            <a:ext cx="3981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Cliente escolhe um horário e os serviços compatíveis, seleciona o profissional e conclui a marcação.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3C25A-B5BE-4B08-8016-28F6081E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Interface de outubro de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592D5-0940-49E5-9447-0F89F515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Java  ·  Spring Boot  ·  React  ·  TypeScript  ·  PostgreSQL</a:t>
            </a:r>
          </a:p>
        </p:txBody>
      </p:sp>
    </p:spTree>
    <p:extLst>
      <p:ext uri="{BB962C8B-B14F-4D97-AF65-F5344CB8AC3E}">
        <p14:creationId xmlns:p14="http://schemas.microsoft.com/office/powerpoint/2010/main" val="14188175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3857A-ACC5-488F-AF7A-B96A11EE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PROFISSIONAL · EXPERIÊNCIA DE UTILIZAÇÃO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BDD76-97CE-4923-A4FE-243FE046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A2CD6-CD3A-42F4-BA80-A49E7E10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Ícaro’s Barbershop · Operação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BE62A-D933-4233-BAB2-5687807D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A marcação pública e a gestão do negócio fazem parte do mesmo produto.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C762C-62C1-41C1-94E9-31635250FB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308c0274145ba"/>
          <a:stretch xmlns:a="http://schemas.openxmlformats.org/drawingml/2006/main"/>
        </p:blipFill>
        <p:spPr>
          <a:xfrm xmlns:a="http://schemas.openxmlformats.org/drawingml/2006/main">
            <a:off x="622935" y="2295525"/>
            <a:ext cx="5212080" cy="32575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7CFBA-4052-41F5-88FB-09080DF1F6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45061d1f64849"/>
          <a:stretch xmlns:a="http://schemas.openxmlformats.org/drawingml/2006/main"/>
        </p:blipFill>
        <p:spPr>
          <a:xfrm xmlns:a="http://schemas.openxmlformats.org/drawingml/2006/main">
            <a:off x="6343650" y="2389055"/>
            <a:ext cx="5238750" cy="307049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7D8C1-2610-47E5-BB85-32E6E9C5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Cliente: escolher horário e serviços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841D7-E829-4E92-809D-5912B787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435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Equipa: gerir o catálogo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6DBDA-2587-41D7-9DAD-102E32C2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Capturas locais de outubro de 2026; sem dados pessoais de clientes.</a:t>
            </a:r>
          </a:p>
        </p:txBody>
      </p:sp>
    </p:spTree>
    <p:extLst>
      <p:ext uri="{BB962C8B-B14F-4D97-AF65-F5344CB8AC3E}">
        <p14:creationId xmlns:p14="http://schemas.microsoft.com/office/powerpoint/2010/main" val="1267965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59C11-B44D-4534-AABD-3FFD1E41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PROFISSIONAL · ARQUITETURA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0F22C-DE24-4347-A8EB-5EAAFBA4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62256-668D-42EE-8ABF-7DAA8EDC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0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0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0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0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0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0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0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0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0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0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Skevia · Agendamento multi-tenant · Engenharia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12632-EAB4-4DC1-98FB-B015C001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Componentes, responsabilidades e decisões de implementação.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7C06E-D820-48D3-AB55-EFB3BDE8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0EC67-686C-4FA5-8B0F-B38BDEA8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495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Site público React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7225F-59C6-454B-865E-2F45E640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1F8B2-0A7F-4AFF-B908-4E9A2E2B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2495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Backoffice React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65689-7C7A-4C40-A58A-03DACE95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9900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5FB38-FD2B-4771-8B52-9226D670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00375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AD854-AB20-41C0-9287-927499C1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3850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API Spring 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5EBF7-D4F4-4CFB-AC09-A2ACE250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62300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255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4EF18-2C4C-402B-95F2-593EACFF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00375"/>
            <a:ext cx="3638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42539-A74F-4E8C-9E3D-22400E4D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38500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42505-A3FE-4F4E-B7B9-851CE06E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IMPLEMENTAÇÃO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329B2-CC31-4102-99A2-87A1075F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Site público e backoffice React, API Spring Boot e PostgreSQL. O renderer partilhado mantém a apresentação consistente.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32451-9276-4675-BE28-150D3EA9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520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DECISÃO DE PROJETO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5A96B-4AF0-4F40-801E-A11E8887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38725"/>
            <a:ext cx="5200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Uma plataforma comum suporta vários negócios, enquanto o catálogo e a identidade de cada organização permanecem próprios. A arquitetura pública mostra apenas responsabilidades funcionais.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0C53C-2EFC-49BF-AD1A-1E481C4D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Visão pública de alto nível. Sem endpoints, credenciais ou configuração de segurança.</a:t>
            </a:r>
          </a:p>
        </p:txBody>
      </p:sp>
    </p:spTree>
    <p:extLst>
      <p:ext uri="{BB962C8B-B14F-4D97-AF65-F5344CB8AC3E}">
        <p14:creationId xmlns:p14="http://schemas.microsoft.com/office/powerpoint/2010/main" val="21056616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414B7-BD15-4CAB-85D2-1EC8FA4B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PROFISSIONAL · CLIENTE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899EA-C500-4C26-AD44-6FF81D36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CD118-33EC-45B5-B73E-27CFAFF1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Marta · Her Legacy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05BA3-6F8E-470A-809B-673BB7EA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Mentoria, lista de espera e contacto numa experiência de marca.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D885F-4BFF-4A34-A00A-455182A5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E3D98-4D11-4512-B352-E93673D621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aa1f231914ed4"/>
          <a:stretch xmlns:a="http://schemas.openxmlformats.org/drawingml/2006/main"/>
        </p:blipFill>
        <p:spPr>
          <a:xfrm xmlns:a="http://schemas.openxmlformats.org/drawingml/2006/main">
            <a:off x="1314450" y="2390775"/>
            <a:ext cx="5257800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0D634-840A-4257-B86A-01C41444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398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CONTEXTO &amp; UTILIZAÇÃO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E6771-EE19-41E0-833E-7497F1C4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3981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MVP para apresentar a mentoria de Marta Silva, captar candidaturas e inscrições na lista de espera do Her Legacy Planner.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A19C5-D33C-41C0-82CD-84CE6D83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38675"/>
            <a:ext cx="3981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Conhecer a proposta de mentoria e enviar uma candidatura.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CF189-8C05-42C4-A074-203C7237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Registo visual anterior · set.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38111-49EE-4C81-B8E8-985644D4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Next.js  ·  React  ·  TypeScript  ·  Spring Boot  ·  Email</a:t>
            </a:r>
          </a:p>
        </p:txBody>
      </p:sp>
    </p:spTree>
    <p:extLst>
      <p:ext uri="{BB962C8B-B14F-4D97-AF65-F5344CB8AC3E}">
        <p14:creationId xmlns:p14="http://schemas.microsoft.com/office/powerpoint/2010/main" val="11632411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B34D00-50CC-4C2F-80BD-40381741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PROFISSIONAL · ARQUITETURA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35431-080B-49E8-923E-2E876901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070E1-D1AE-4BF3-80CE-D1132F5C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Marta · Her Legacy · Engenharia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84C34-5F8C-411C-A950-D98DA0EF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Componentes, responsabilidades e decisões de implementação.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EFE45-D095-43F9-8127-F2DC47E9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35744-0B32-4F2C-B418-5E3D6201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2343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Visitante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EF738-D1E3-4BB7-9F57-C4C087D2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96703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7BEA3-250C-4BF5-9345-D2B6EFD1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003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35978-F3F9-482F-A0E3-E9CE290D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52725"/>
            <a:ext cx="2343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Next.js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915B9-CDAA-4912-996F-25C2DF19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6703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F8E95-1650-4D3B-BECA-2F6A7F4C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03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82432-8DEB-4828-808A-1D3CD240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2343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Serviço Spring Boot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73A0F-D7C2-4A7F-BAD7-69998404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6703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71950-DAA8-48B2-8E91-4D589B71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003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7BCE4-4173-4C6F-B83F-377392E7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52725"/>
            <a:ext cx="2343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Email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AD082-9C82-4C5F-8107-45D08F02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IMPLEMENTAÇÃO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11340C-0CB1-4778-8112-7AA6B672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Next.js encaminha os pedidos para um serviço Spring Boot de email. A marca e o interessado recebem mensagens; os pedidos não são persistidos.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E9566-47DF-4FD9-A49D-A35BCB6F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20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DECISÃO DE PROJETO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F3157-889E-4081-907C-73475F3C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05325"/>
            <a:ext cx="5200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Concentrar o MVP em captação e comunicação reduz a complexidade operacional e mantém o percurso alinhado com os serviços da marca.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62AB65-83A8-428B-AE69-D272FC15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Visão pública de alto nível. Sem endpoints, credenciais ou configuração de segurança.</a:t>
            </a:r>
          </a:p>
        </p:txBody>
      </p:sp>
    </p:spTree>
    <p:extLst>
      <p:ext uri="{BB962C8B-B14F-4D97-AF65-F5344CB8AC3E}">
        <p14:creationId xmlns:p14="http://schemas.microsoft.com/office/powerpoint/2010/main" val="14067801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62B59-A80E-4C88-9CAA-BCB54E08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PROFISSIONAL · CLIENTE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AB427-11A9-4B18-ABC1-673A9120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FD2B4-A08C-4638-B7FB-15BCFF26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Coimbra MMA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44C01-1059-4098-BC7E-1FAD6D39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Uma academia acessível a quem chega de qualquer lugar.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94C50-3A84-48F6-9E48-539339D2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75D58-7A51-48BD-A7A1-4CA0AA7334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1047a8741420b"/>
          <a:stretch xmlns:a="http://schemas.openxmlformats.org/drawingml/2006/main"/>
        </p:blipFill>
        <p:spPr>
          <a:xfrm xmlns:a="http://schemas.openxmlformats.org/drawingml/2006/main">
            <a:off x="1314450" y="2390775"/>
            <a:ext cx="5257800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3DEA5-458B-4EC4-82BB-F1813875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398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CONTEXTO &amp; UTILIZAÇÃO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66C0C-A5C7-410E-BE2B-885E394C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3981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Website para apresentar a academia, as modalidades e os horários a um público local e internacional.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5BBB4-1458-4A9B-83C4-79B92E5A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38675"/>
            <a:ext cx="3981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Descobrir modalidades e informação prática da academia.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87AD1-01E9-4253-AD10-33F7B733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Interface do projeto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EBEA5-A6D9-4D0B-B024-4B8837A7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Astro  ·  JavaScript  ·  i18n  ·  SEO</a:t>
            </a:r>
          </a:p>
        </p:txBody>
      </p:sp>
    </p:spTree>
    <p:extLst>
      <p:ext uri="{BB962C8B-B14F-4D97-AF65-F5344CB8AC3E}">
        <p14:creationId xmlns:p14="http://schemas.microsoft.com/office/powerpoint/2010/main" val="1632572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25B45-536E-4699-9376-E335362E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PROFISSIONAL · ARQUITETURA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3A24A-9C18-43F7-A497-309CC57C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984FE-C907-4122-8E81-05700C3C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Coimbra MMA · Engenharia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86DE2-417B-43BE-9603-BC0D7BCF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Componentes, responsabilidades e decisões de implementação.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011B7-0F0B-4C56-A224-1B45B47E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3505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3F6C5-E715-4992-A440-1DF3FBCE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32766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Visitante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D916F-7B87-4FA7-BD3B-520BAC69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6703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25003-EC16-4A22-B4D2-0E4D9930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00325"/>
            <a:ext cx="3505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60C13-C3F4-4AF0-95BB-E85F97FA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52725"/>
            <a:ext cx="32766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Website Astro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80B04-6D8F-4A45-834F-0B20DC7C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6703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F905C-174D-41BD-8553-8D8DEDC5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00325"/>
            <a:ext cx="3505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8A3C9-CA00-48D4-8BBE-E1E2E37A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52725"/>
            <a:ext cx="32766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Conteúdo traduzido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76E10-160D-4EDC-A6A3-F2D0EAB3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IMPLEMENTAÇÃO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9C752-BF92-4662-BC0C-AF8511E4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Astro gera páginas estáticas a partir de conteúdo estruturado. O sistema mantém oito idiomas e valida as traduções no build.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69A26-D09A-451B-BDE6-38959DBF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20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DECISÃO DE PROJETO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21C23-13A8-441F-AD53-B2F0186D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05325"/>
            <a:ext cx="5200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Astro gera páginas estáticas e mantém o conteúdo leve. A internacionalização permite atualizar informação comum sem duplicar a estrutura das páginas.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57BF0-F6A4-4247-A74E-EDB819A6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Visão pública de alto nível. Sem endpoints, credenciais ou configuração de segurança.</a:t>
            </a:r>
          </a:p>
        </p:txBody>
      </p:sp>
    </p:spTree>
    <p:extLst>
      <p:ext uri="{BB962C8B-B14F-4D97-AF65-F5344CB8AC3E}">
        <p14:creationId xmlns:p14="http://schemas.microsoft.com/office/powerpoint/2010/main" val="2264956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518BC-F234-4112-828B-B966B6BA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PROFISSIONAL · CLIENTE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84E29-0EDC-43C6-B731-60B9AC72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ABBA6-8FBE-4556-823B-3AEA81B8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Dalliany Tavares Advocacia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E2836-6244-4777-881E-B5D38114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Presença digital editorial para serviços jurídicos.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1CAE9-AD70-4E8F-9D8D-F4BFA4D1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61150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B46E4-6AC6-480D-B726-2EDBFAE9F1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cbd38ed584600"/>
          <a:stretch xmlns:a="http://schemas.openxmlformats.org/drawingml/2006/main"/>
        </p:blipFill>
        <p:spPr>
          <a:xfrm xmlns:a="http://schemas.openxmlformats.org/drawingml/2006/main">
            <a:off x="1060679" y="2419350"/>
            <a:ext cx="5212892" cy="2933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EE019-3124-43E4-8264-01856E57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CONTEXTO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63D7A-8D38-454A-BC4F-68BC5EBF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67000"/>
            <a:ext cx="4419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Website institucional multipágina para explicar áreas de atuação e aproximar o visitante dos canais de atendimento.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AC345-F9DB-4D24-A906-23082AE7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10025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IMPLEMENTAÇÃO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E584B-C8E8-4F35-928D-535C4580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33875"/>
            <a:ext cx="4419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Astro e TypeScript, conteúdo editorial e imagens responsivas. Projeto em pré-lançamento, com dados e canais ainda em validação.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C66A3-C6F5-4A2F-8621-9AD99D87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350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04CF9-8D98-4176-B0D4-47AB029B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Visitante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E1CD4-8ED6-4467-9FDB-E8BD077F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388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AEB1B-9880-4C8B-B27C-63931F56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95950"/>
            <a:ext cx="350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234A31-E0DA-4B78-AF83-AF0E019C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483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Astro SSG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828EC-80C4-4FF6-8ACE-144CD285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8388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227F5-118C-4590-B697-B52A6800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95950"/>
            <a:ext cx="350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D43D9-57DC-45D3-98C1-6E8731FF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483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Conteúdo validado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E6ACCF-8397-4CF8-909D-9446FDB2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Pré-lançamento</a:t>
            </a:r>
          </a:p>
        </p:txBody>
      </p:sp>
    </p:spTree>
    <p:extLst>
      <p:ext uri="{BB962C8B-B14F-4D97-AF65-F5344CB8AC3E}">
        <p14:creationId xmlns:p14="http://schemas.microsoft.com/office/powerpoint/2010/main" val="9180968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280F1B-990C-404A-ABDC-54A79DB5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PROFISSIONAL · CLIENTE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A7CB4-3828-4C68-8C89-DCEF3C3E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DACD3-F666-4166-BC11-A6D032DA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Thiago Santos English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F2FA3-DAAF-46A4-AE1C-0FBCCF67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Conteúdo educativo com percurso de compra digital.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25409-EC47-435E-AF2F-4D77F0A7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0958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Plataforma de cliente para apresentar cursos de inglês e ebooks e apoiar a venda de produtos digitais.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AEF4B-32DB-4190-9250-5C81BA03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71725"/>
            <a:ext cx="52101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Eleventy gera as páginas. Node.js e Express coordenam os fluxos de servidor e a integração Mercado Pago / Pix.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AF21D-9C72-4FBB-9A1D-72B1AEEA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CASO DE USO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6D772-CA85-4D41-B326-3B017FDC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Visitante conhece os cursos de inglês e os ebooks.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C0359-34FC-450E-942A-4A701B22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2571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8F6B3-A9F6-47AF-B576-16207C5E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2343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Aluno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C05D9-4B2D-427C-B89B-3489E3DA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72928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CBEE4-DD56-4B1D-A2E1-A3208398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476875"/>
            <a:ext cx="2571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F7DBC-D1AE-44A2-A885-DC612C5A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29275"/>
            <a:ext cx="2343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Site Eleventy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C1B73-E7D9-459D-91D4-756EBEB4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72928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53C1B-54E2-44C5-9BA7-F9763F5A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76875"/>
            <a:ext cx="2571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879EF-62AC-4514-B39D-B0CDC34E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29275"/>
            <a:ext cx="2343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Servidor Express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78815-384C-44C8-BEFA-0CC09C7E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72928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6376C-8ED0-45E5-B442-AD1766CE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76875"/>
            <a:ext cx="2571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E8245-14A2-427B-A720-142D74C1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29275"/>
            <a:ext cx="2343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Pagamento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F3894-0A72-4CD9-8F2C-7A10D192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Eleventy · Node.js · Express · Mercado Pago  |  Projeto privado</a:t>
            </a:r>
          </a:p>
        </p:txBody>
      </p:sp>
    </p:spTree>
    <p:extLst>
      <p:ext uri="{BB962C8B-B14F-4D97-AF65-F5344CB8AC3E}">
        <p14:creationId xmlns:p14="http://schemas.microsoft.com/office/powerpoint/2010/main" val="20683764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4F470-3AAA-4BC6-92EF-9F56D803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PROFISSIONAL · PRODUTO INDEPENDENTE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F6E51-9F3A-4DD7-B6A0-74DF16B9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35613-A8D9-47D6-8326-CCFB63F0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503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A8F11-82E4-4617-BDA0-B17F95F7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Publicar com método. Ler sem ruído.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30EEC-008E-42F2-9C83-B1C9349A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21D4F-423E-4D0D-90B7-AFA5496A85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2234fb337412b"/>
          <a:stretch xmlns:a="http://schemas.openxmlformats.org/drawingml/2006/main"/>
        </p:blipFill>
        <p:spPr>
          <a:xfrm xmlns:a="http://schemas.openxmlformats.org/drawingml/2006/main">
            <a:off x="1314450" y="2390775"/>
            <a:ext cx="5257800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C3D22-1ACF-458C-B130-934DEA25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398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CONTEXTO &amp; UTILIZAÇÃO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034A2-4DD6-48BC-86D1-5C7E9498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3981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Publicação independente com experiência de leitura e fluxo próprio de criação, organização e publicação de artigos.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E89BA-8F58-4E15-9B0C-2B2EF2EB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38675"/>
            <a:ext cx="3981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Leitor explora artigos e abre uma página de leitura dedicada.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C1785-9B35-4F92-8235-327DF206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Interface do projeto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23871-5D33-4336-A882-9FD2DA31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Spring Boot  ·  Astro  ·  React  ·  PostgreSQL</a:t>
            </a:r>
          </a:p>
        </p:txBody>
      </p:sp>
    </p:spTree>
    <p:extLst>
      <p:ext uri="{BB962C8B-B14F-4D97-AF65-F5344CB8AC3E}">
        <p14:creationId xmlns:p14="http://schemas.microsoft.com/office/powerpoint/2010/main" val="3758721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BBB8D8-B033-481B-9EFD-30B1C433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PROFISSIONAL · ARQUITETURA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151B4-7D61-4D66-A56B-B590343F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70D35-18D2-42D8-9491-F0EC4404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503 · Engenharia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9C5DB-F6A4-44CF-AF02-C411726E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Componentes, responsabilidades e decisões de implementação.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84236-58FE-4FF3-AE8C-9E42085B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D4193-888F-4D4F-B6E1-D6F41215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2343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Leitor / editor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E0FA1-8A24-427A-9E9A-0E5D8BAF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96703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7AF77-4AE4-4448-B027-68BF872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003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6618D-A89F-4647-B567-C106031B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52725"/>
            <a:ext cx="2343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Astro / React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CF18D-DE29-4ED5-B524-730E5118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6703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33670-B8E6-40F4-8834-4931F34F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03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0411D-45E9-4FB6-BD47-2B007B6C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2343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API Spring Boot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88E7B-E6AF-4749-9F6A-03C52944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6703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5FF38-6EF5-4ADC-8361-20DDB2A6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003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0AC0D-1642-48AF-BEDE-3B79B867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52725"/>
            <a:ext cx="2343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PostgreSQL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24192-A9D1-4311-94EC-6DB6DBCC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IMPLEMENTAÇÃO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F5D3BF-D70E-4698-A7D0-CD434F75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Website Astro, backoffice React e API Spring Boot. PostgreSQL guarda o conteúdo e o estado editorial.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630AF-AD32-4A18-A504-61DDC7BF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20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DECISÃO DE PROJETO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1374E1-19AE-4FB7-BA5B-3731E859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05325"/>
            <a:ext cx="5200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Separar o website público do backoffice permite desenvolver a leitura e a operação editorial de forma independente, mantendo regras de publicação no backend.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81BC44-4947-4A78-B75B-51CD2961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Visão pública de alto nível. Sem endpoints, credenciais ou configuração de segurança.</a:t>
            </a:r>
          </a:p>
        </p:txBody>
      </p:sp>
    </p:spTree>
    <p:extLst>
      <p:ext uri="{BB962C8B-B14F-4D97-AF65-F5344CB8AC3E}">
        <p14:creationId xmlns:p14="http://schemas.microsoft.com/office/powerpoint/2010/main" val="20304056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AB6CF0-68CE-4C1A-A394-C1EC93DC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PROFISSIONAL · PRODUTO INDEPENDENTE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CBF24-764F-40BA-BC7B-E9F43562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99B81-CA48-4C83-BC97-12D0A8A6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AssessFlow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C1476-5905-4035-910F-F3C8806E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Avaliações ao vivo, na nuvem ou em rede local.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A2F4B-17B5-4F58-AE93-9F823A31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61150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28877-EDEB-4EE0-A15D-CF25AD5C3F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0d1cf0663404e"/>
          <a:stretch xmlns:a="http://schemas.openxmlformats.org/drawingml/2006/main"/>
        </p:blipFill>
        <p:spPr>
          <a:xfrm xmlns:a="http://schemas.openxmlformats.org/drawingml/2006/main">
            <a:off x="1320165" y="2419350"/>
            <a:ext cx="4693920" cy="2933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57B4B-AF4D-47E2-831E-F1E937CD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CONTEXTO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C2BAE-FDA8-4584-819C-A506DA05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67000"/>
            <a:ext cx="4419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Plataforma para criar avaliações e conduzir sessões ao vivo, pela internet ou numa rede local.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F2D40-FA0B-464F-892D-1E551D21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10025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IMPLEMENTAÇÃO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EC45B-230C-4632-9EC0-A1569224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33875"/>
            <a:ext cx="4419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React, Spring Boot e PostgreSQL, com WebSocket para participação em tempo real, reconexão e resultados.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7D69B-F748-4865-9ED0-CD666CAF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6F3A5-A4D7-456C-88DD-C4B9CC1A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Docente / participante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BCD27-5411-4E81-990C-71B46EAD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8388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5A825-69DD-4BBF-AA1A-0A1717D9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6959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BBD4F-1DC4-4630-B11F-06ED49D3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483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React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BC5C1-0FC2-40DF-9E34-08CA46EA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8388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24094-7ED0-4996-82F3-00BE51C6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959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A68EB-3180-431F-9EE9-9BB88C49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483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Spring Boot + WebSocket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D3648-4342-431A-8D8B-9C05FF6A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388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DB739-C5C8-499E-A05A-94F196B5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959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36B7C3-FE8F-4974-888F-94B7FC35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483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PostgreSQL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E7BE07-C300-48D5-9CFE-5228B920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Tela disponível no acervo</a:t>
            </a:r>
          </a:p>
        </p:txBody>
      </p:sp>
    </p:spTree>
    <p:extLst>
      <p:ext uri="{BB962C8B-B14F-4D97-AF65-F5344CB8AC3E}">
        <p14:creationId xmlns:p14="http://schemas.microsoft.com/office/powerpoint/2010/main" val="1500067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2A9A68-C57B-4B91-B37C-FF836074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PROFISSIONAL · PRODUTO INDEPENDENTE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6DAC2-4393-40BA-B178-72B0080F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5871B-4537-4372-BC47-0E0147A5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Local Sales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DA938-F81D-411C-9C56-013F3A1E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Conhecimento comercial com origem verificável.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B7558-23A9-4476-9880-EB8D0BB0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61150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E405D-9B51-43CC-B5F4-1EEC24AE43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0f5bb48cf46f1"/>
          <a:stretch xmlns:a="http://schemas.openxmlformats.org/drawingml/2006/main"/>
        </p:blipFill>
        <p:spPr>
          <a:xfrm xmlns:a="http://schemas.openxmlformats.org/drawingml/2006/main">
            <a:off x="1320165" y="2419350"/>
            <a:ext cx="4693920" cy="2933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39D1C-BF80-4C84-9574-BD224168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CONTEXTO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BFA67-FAC6-46BD-88A0-C5889B87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67000"/>
            <a:ext cx="4419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Espaço de trabalho para organizar documentos comerciais e consultar respostas ligadas às respetivas fontes.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512C5-0957-4B55-9B77-559DE1E2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10025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IMPLEMENTAÇÃO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DCA42-03D6-44DA-9721-1FCBE464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33875"/>
            <a:ext cx="4419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Spring Boot coordena dados em MySQL, IA local com Ollama e pesquisa vetorial com Qdrant. Produto em desenvolvimento.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B559E-D9B5-40FA-B68F-DAAD863B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E2960-E77F-4239-8E43-379813EB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Profissional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0BB6E-DF17-40AE-85C0-6A019C95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8388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F772E-1506-4A07-8C61-8A6F7A1A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6959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F9E6D-76A3-4779-A7B9-B34DC030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483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Interface web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CE5EE-1DDF-41D6-9D95-74C25C9C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8388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EB4E5-5119-4F96-823F-F8699C8A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959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02D214-0373-4339-883B-E3F3FE26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483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Spring Boot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B4D2D2-238B-42F0-BCC6-12ED4BAD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388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EA3254-7CE7-4967-82AE-ABD80610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959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838ABA-7E73-4A07-9E30-0874DF66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483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MySQL / Qdrant / IA local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8079D-4ECE-42FF-901E-2BE47E38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Dados de demonstração</a:t>
            </a:r>
          </a:p>
        </p:txBody>
      </p:sp>
    </p:spTree>
    <p:extLst>
      <p:ext uri="{BB962C8B-B14F-4D97-AF65-F5344CB8AC3E}">
        <p14:creationId xmlns:p14="http://schemas.microsoft.com/office/powerpoint/2010/main" val="1272793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31438-D6B4-4DA2-BDE5-99BB4DB3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PROFISSIONAL · PRODUTO INDEPENDENTE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0465A-4CE3-4D8C-818A-9B2B7C03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6A999-89AB-4FD1-B818-BCC113D5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AI Agent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E9A20-2521-4A9C-A06E-E9D17426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Coordenação explícita de agentes de programação no terminal.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D8CFD-BF56-4818-AE13-54E05531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0958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Consola de desenvolvimento para coordenar sessões independentes de agentes com controlo explícito do utilizador.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355A9-5905-456E-9790-375806F4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71725"/>
            <a:ext cx="52101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Java coordena processos e comunicação JSON-RPC. JLine fornece a interface de terminal; Gson trata os dados.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503C6-FFFA-451F-9696-5227AFBF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CASO DE USO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87DB3-0E4E-405F-A629-B74FA9BC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Escolher um diretório de trabalho e um perfil.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6AD25-1935-402A-AF10-58EF0804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2571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A9B23-C7A2-4E34-824D-702C5C4F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2343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Utilizador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498D9-C188-4CBB-9951-8B3FDA09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72928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FA823-C6E8-43B0-AFC8-C3D6018A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476875"/>
            <a:ext cx="2571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B412A-DBDA-46DB-A0DD-5643A6EF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29275"/>
            <a:ext cx="2343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Consola JLine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DD016-DE2A-4F15-97D8-FFC2541C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72928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66AC3-FED4-4712-B555-EF2286DD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76875"/>
            <a:ext cx="2571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3F53A-D620-4656-B8C5-61879FC0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29275"/>
            <a:ext cx="2343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Coordenador Java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5C17F-CF47-4DE3-B033-DDD18A45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72928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00E30-FE3D-4FD2-A665-69E97055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76875"/>
            <a:ext cx="2571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55C8CA-C28D-4FE7-A207-95F2457F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29275"/>
            <a:ext cx="2343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CLIs de agentes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BE772-A298-45A3-A025-0D61D0F8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Java · JLine · Gson · JSON-RPC  |  Em desenvolvimento</a:t>
            </a:r>
          </a:p>
        </p:txBody>
      </p:sp>
    </p:spTree>
    <p:extLst>
      <p:ext uri="{BB962C8B-B14F-4D97-AF65-F5344CB8AC3E}">
        <p14:creationId xmlns:p14="http://schemas.microsoft.com/office/powerpoint/2010/main" val="16627614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E8897-E9B9-4C69-A294-75C19772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PROFISSIONAL · PRODUTO INDEPENDENTE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07DFB-B952-4662-A720-CF036C2B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2BB9C-E579-465A-A335-894C7778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Skevia · Website institucional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9CB16-8E19-40D0-AE1C-9FF36831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Fundação web para a identidade da Skevia.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291C0-1C06-4863-872F-7C6C05CF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0958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Fundação do website institucional da Skevia, com identidade visual e estrutura para a evolução das páginas públicas.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0BC3A-50F2-4A59-BE4B-B8EA8972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71725"/>
            <a:ext cx="52101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Astro estático e TypeScript. A página institucional é independente da plataforma de agendamento.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69799-0390-40A7-8EB0-BEF73FC1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CASO DE USO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CCC50-FF09-40BF-8780-CADE2DB4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Apresentar a identidade institucional.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9DC1A-75FA-4145-827E-FA047C28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35052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55ECA-2F48-47E2-878E-BF64F2BA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3276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Visitante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BD514-2360-4F6F-AAD8-09575BE0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72928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08832-1928-4576-A34F-23460A1D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76875"/>
            <a:ext cx="35052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D892D-C985-4CB1-A1DA-B46F61A2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29275"/>
            <a:ext cx="3276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Website Astro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82B94-B44F-4BF0-A5D0-2B344972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72928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D48D7-B06B-4FD3-ACAC-6A47D2AB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35052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AC495-92D6-4C4F-82F2-133782D2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29275"/>
            <a:ext cx="3276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Conteúdo de marca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40AC1-84BE-4E85-BE18-58B27FFE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Astro · TypeScript · CSS  |  Base implementada</a:t>
            </a:r>
          </a:p>
        </p:txBody>
      </p:sp>
    </p:spTree>
    <p:extLst>
      <p:ext uri="{BB962C8B-B14F-4D97-AF65-F5344CB8AC3E}">
        <p14:creationId xmlns:p14="http://schemas.microsoft.com/office/powerpoint/2010/main" val="14199788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81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CD47B-B3EC-4786-824C-2D9983F7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rPr>
              <a:t>FORMAÇÃO · ISEC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61AB9-16E4-4E25-A0D5-7D5B6D38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2E350-3A99-4C9D-9CBF-91F0ECD3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7620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525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525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525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525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525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525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525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525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525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525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pPr>
            <a:r>
              <a:rPr sz="5250" b="0">
                <a:solidFill>
                  <a:srgbClr val="FFFFFF"/>
                </a:solidFill>
                <a:latin typeface="Noto Serif"/>
                <a:ea typeface="Noto Serif"/>
                <a:cs typeface="Noto Serif"/>
              </a:rPr>
              <a:t>Projetos</a:t>
            </a:r>
          </a:p>
          <a:p xmlns:a="http://schemas.openxmlformats.org/drawingml/2006/main">
            <a:pPr algn="l">
              <a:defRPr sz="525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pPr>
            <a:r>
              <a:rPr sz="5250" b="0">
                <a:solidFill>
                  <a:srgbClr val="FFFFFF"/>
                </a:solidFill>
                <a:latin typeface="Noto Serif"/>
                <a:ea typeface="Noto Serif"/>
                <a:cs typeface="Noto Serif"/>
              </a:rPr>
              <a:t>académicos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482CF-E04A-4D30-9AD1-B4FD6CDB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25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25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25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25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25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25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25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25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25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C9B798"/>
                </a:solidFill>
                <a:latin typeface="Noto Sans"/>
                <a:ea typeface="Noto Sans"/>
                <a:cs typeface="Noto Sans"/>
              </a:rPr>
              <a:t>Sistemas distribuídos, aplicações,</a:t>
            </a:r>
          </a:p>
          <a:p xmlns:a="http://schemas.openxmlformats.org/drawingml/2006/main">
            <a:pPr algn="l">
              <a:defRPr sz="225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C9B798"/>
                </a:solidFill>
                <a:latin typeface="Noto Sans"/>
                <a:ea typeface="Noto Sans"/>
                <a:cs typeface="Noto Sans"/>
              </a:rPr>
              <a:t>concorrência e modelação de domínio.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C7EB5-9582-456B-B955-21E0BE2D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C6C3B9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425" b="0">
                <a:solidFill>
                  <a:srgbClr val="C6C3B9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425" b="0">
                <a:solidFill>
                  <a:srgbClr val="C6C3B9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425" b="0">
                <a:solidFill>
                  <a:srgbClr val="C6C3B9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425" b="0">
                <a:solidFill>
                  <a:srgbClr val="C6C3B9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425" b="0">
                <a:solidFill>
                  <a:srgbClr val="C6C3B9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425" b="0">
                <a:solidFill>
                  <a:srgbClr val="C6C3B9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425" b="0">
                <a:solidFill>
                  <a:srgbClr val="C6C3B9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425" b="0">
                <a:solidFill>
                  <a:srgbClr val="C6C3B9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425" b="0">
                <a:solidFill>
                  <a:srgbClr val="C6C3B9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C6C3B9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C6C3B9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7296a83dc3cb4912"/>
              </a:rPr>
              <a:t>Coleção: github.com/davigama-academic</a:t>
            </a:r>
          </a:p>
        </p:txBody>
      </p:sp>
    </p:spTree>
    <p:extLst>
      <p:ext uri="{BB962C8B-B14F-4D97-AF65-F5344CB8AC3E}">
        <p14:creationId xmlns:p14="http://schemas.microsoft.com/office/powerpoint/2010/main" val="3008935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FB908-0E30-4613-AD66-20FCDDF6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ACADÉMICO · PROJETO ACADÉMICO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467DD-C445-40AE-98A2-7DB37029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1592B-8ED2-4487-A064-7BF71DC7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Distributed Quiz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97D58-F766-419D-8D4C-FABFB6DE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Uma sessão que continua mesmo após falhas.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13C60-DDA1-40AF-BEF1-7208212C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CB2ED-A8D0-4749-9C28-833D75AAD0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e581b9575441b"/>
          <a:stretch xmlns:a="http://schemas.openxmlformats.org/drawingml/2006/main"/>
        </p:blipFill>
        <p:spPr>
          <a:xfrm xmlns:a="http://schemas.openxmlformats.org/drawingml/2006/main">
            <a:off x="1314450" y="2390775"/>
            <a:ext cx="5257800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D675D-B376-4C5E-AA95-70E955DE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398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CONTEXTO &amp; UTILIZAÇÃO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41D05-51F4-4C30-AAFD-4919CF3C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3981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Sistema académico para sessões de perguntas e respostas entre docentes e alunos, com recuperação após falhas.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E7EC8-EB4C-48E9-B8EA-1306FD5A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38675"/>
            <a:ext cx="3981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Professor cria perguntas e disponibiliza uma sessão a alunos.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17310-DDB4-4A5B-B89F-0D5CE834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Protótipo web posterior ao JavaFX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C2044-7504-472D-809A-FB916626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Java  ·  JavaFX  ·  TCP / UDP  ·  SQLite</a:t>
            </a:r>
          </a:p>
        </p:txBody>
      </p:sp>
    </p:spTree>
    <p:extLst>
      <p:ext uri="{BB962C8B-B14F-4D97-AF65-F5344CB8AC3E}">
        <p14:creationId xmlns:p14="http://schemas.microsoft.com/office/powerpoint/2010/main" val="4118140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6AD99-CBB7-4FEE-BF67-A911A7D0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ACADÉMICO · ARQUITETURA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A2B98-4A87-482B-97C4-CF8C7B75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B2BAA-D433-4D6A-8CD3-539863AA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Distributed Quiz · Engenharia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640C9-4629-4067-9B57-14B37331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Componentes, responsabilidades e decisões de implementação.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64525-B084-4CC5-8F1A-403FF632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343EB-3092-4266-A65F-D4A15F75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2343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Professor / alunos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DC5F3-8531-496C-BD96-16D986CF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96703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0FA6E-609C-4F29-8DCD-5BBAA93C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003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80E6F-D6A9-403F-846C-D880DC45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52725"/>
            <a:ext cx="2343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Clientes JavaFX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043C0-34E4-45A8-8C75-F8CD9A9F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6703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6B399-AF0E-4BBD-81DB-B148D463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03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05C3B-90A4-4982-9FAA-45F16712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2343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Serviços replicados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99E5A-7876-47CE-A0A2-CEAAEC95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6703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CDFC2-BE0F-4AA7-9260-B34E7616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003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1C069-FFCF-49E3-892C-79400923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52725"/>
            <a:ext cx="2343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SQLite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F081E-8FCB-49C0-BF93-1EC50B4F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IMPLEMENTAÇÃO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710CC-46B0-4613-9E71-1300E706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Java e JavaFX, descoberta de serviços, replicação e persistência SQLite. Comunicação por TCP, UDP e multicast.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0557C-BE6F-4C17-9DB4-1AA65D38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20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DECISÃO DE PROJETO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47709-0503-4E3F-B709-CF5B5883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05325"/>
            <a:ext cx="5200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A replicação e a descoberta de serviços tornam observáveis os desafios de coordenação, falha e recuperação num sistema distribuído.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938A5E-BBEC-45C6-A577-57FA9FFF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Visão pública de alto nível. Sem endpoints, credenciais ou configuração de segurança.</a:t>
            </a:r>
          </a:p>
        </p:txBody>
      </p:sp>
    </p:spTree>
    <p:extLst>
      <p:ext uri="{BB962C8B-B14F-4D97-AF65-F5344CB8AC3E}">
        <p14:creationId xmlns:p14="http://schemas.microsoft.com/office/powerpoint/2010/main" val="13341431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C4631-488E-4EE5-95D2-F6BD1FF2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ACADÉMICO · PROJETO ACADÉMICO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5F8BF-8CB4-4337-A2EC-20B6817D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3DF91-29BF-4D52-A46D-3F84552E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MyMEDIA Marketplace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6076A-2F3A-4466-A102-5F2F3082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Comércio multimédia em várias interfaces.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5DA7B-BB9E-4B14-93E9-7EF0D2CF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66675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E8235-A3FC-4D07-AC01-022C4EBD6E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c8cc648504a75"/>
          <a:stretch xmlns:a="http://schemas.openxmlformats.org/drawingml/2006/main"/>
        </p:blipFill>
        <p:spPr>
          <a:xfrm xmlns:a="http://schemas.openxmlformats.org/drawingml/2006/main">
            <a:off x="714375" y="2437409"/>
            <a:ext cx="6457950" cy="319285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02ED4-08E1-4464-A1A0-088381E8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398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CONTEXTO &amp; UTILIZAÇÃO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068E2-6131-4928-BC0F-542F0FFB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3981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Marketplace académico com catálogo, carrinho e operações de backoffice em várias aplicações.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40713-F654-41F2-A4C7-10ED78F0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38675"/>
            <a:ext cx="3981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Cliente explora o catálogo e gere carrinho e favoritos.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82FF0-D467-410C-8260-13DAB0B0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Interface do projeto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7C415-7EB9-4662-B05D-4EFE3C69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28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C#  ·  .NET  ·  Blazor  ·  SQL Server</a:t>
            </a:r>
          </a:p>
        </p:txBody>
      </p:sp>
    </p:spTree>
    <p:extLst>
      <p:ext uri="{BB962C8B-B14F-4D97-AF65-F5344CB8AC3E}">
        <p14:creationId xmlns:p14="http://schemas.microsoft.com/office/powerpoint/2010/main" val="7798806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6EB24-55DE-40BA-AF82-B11E1CD7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ACADÉMICO · ARQUITETURA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BA75F-F824-43F4-AF57-FDD3BE58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2980B-0563-45F7-A48F-2B9CF751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MyMEDIA Marketplace · Engenharia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5648D-5EA7-418C-9F3E-B779CD36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Componentes, responsabilidades e decisões de implementação.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FB8BF-D5BC-4497-986A-3A9C3D6D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CBCAA-7B09-434C-BB8D-2BC100D7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2343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Cliente / operador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9BC0D-9159-4469-8302-80C72668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96703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F52DA-D5B8-4A3A-93A9-A652B0CA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003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BBB7C-BE7C-41D1-87B0-75BBC7F8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52725"/>
            <a:ext cx="2343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Blazor / MAUI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E8C1A-8274-49FC-99F3-6F250404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6703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634AA-81DA-41B8-9474-71F1E962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03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E4E5F-B606-4A9D-A7D5-3505D68A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2343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API ASP.NET 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3E044-85D6-4EBB-8BCC-A1C6A07D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6703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8577F-892C-40EC-B49F-EE4911DE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003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EF330-3FBD-43AE-B66F-30EC7E1E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52725"/>
            <a:ext cx="2343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SQL Server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1BB6E-97E4-4A0E-85D4-CD8E4A76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IMPLEMENTAÇÃO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B300F-B9A3-4B6A-B330-1DA87CD1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API ASP.NET Core, Entity Framework Core e SQL Server. Interfaces Blazor e cliente MAUI Hybrid partilham as regras do negócio.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F3B76-1FED-49B8-97A5-90621E7F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20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DECISÃO DE PROJETO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1BA13C-6A52-4C40-9AC1-2A142F39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05325"/>
            <a:ext cx="5200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Uma API central evita duplicar regras entre a loja, o backoffice e a aplicação híbrida.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9841B-B658-4B83-9D98-42702ABE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Visão pública de alto nível. Sem endpoints, credenciais ou configuração de segurança.</a:t>
            </a:r>
          </a:p>
        </p:txBody>
      </p:sp>
    </p:spTree>
    <p:extLst>
      <p:ext uri="{BB962C8B-B14F-4D97-AF65-F5344CB8AC3E}">
        <p14:creationId xmlns:p14="http://schemas.microsoft.com/office/powerpoint/2010/main" val="17392970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65AB6B-55AB-4FF7-B15C-C21263D4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ACADÉMICO · PROJETO ACADÉMICO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C3E2D-04BD-4D28-9433-D023E161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7482E-0EE1-4C55-A4AB-57ED5858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JavaFX Chess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96B9D-599E-499C-AC8D-135DE869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As regras do xadrez traduzidas em software testável.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68F28-C4F7-4EA8-804D-8B008CC3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61150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B88C4-0F3F-4B2E-93C9-6F80564CCC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59d9be7c34dee"/>
          <a:stretch xmlns:a="http://schemas.openxmlformats.org/drawingml/2006/main"/>
        </p:blipFill>
        <p:spPr>
          <a:xfrm xmlns:a="http://schemas.openxmlformats.org/drawingml/2006/main">
            <a:off x="1320165" y="2419350"/>
            <a:ext cx="4693920" cy="2933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EA50F-C6F1-4009-8BD3-3FB3E7DD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CONTEXTO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B8802-06DC-41AF-9B67-E84EF802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67000"/>
            <a:ext cx="4419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Aplicação de xadrez para dois jogadores locais, com regras, modo de aprendizagem, editor de posições e histórico reversível.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F912D-12BD-4A64-9EFF-B9929F72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10025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IMPLEMENTAÇÃO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83E12-62BB-4B1F-AF0F-2162530F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33875"/>
            <a:ext cx="4419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JavaFX e modelo Java organizado em MVC. Memento suporta desfazer/refazer; persistência guarda partidas e posições.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229A2-3733-4872-BA95-D7E8DC26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F93BD-40B3-4963-A83E-8686CD0C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Jogador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69C05-4924-47C4-BEB2-4B6455FC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8388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C90E3-F5E5-4BE6-8935-28438F01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6959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309232-F0B5-4420-A9A8-94DECA7F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483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JavaFX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C7D4F-1A41-41D2-A0E4-A0CDC67B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8388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1B370E-CC46-4F52-B948-8A77716F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959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33635-4E60-4716-BB9A-7B62441A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483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Motor de regras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44638-9C8C-4E6E-995A-3C215AD4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388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D8019A-B4E3-4DA2-8C44-7BA9AA15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959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A8E4E6-D19D-4AE9-A326-67C7855D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483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Persistência local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7D378A-B368-433B-9B71-5283CD2D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Protótipo web · original em JavaFX</a:t>
            </a:r>
          </a:p>
        </p:txBody>
      </p:sp>
    </p:spTree>
    <p:extLst>
      <p:ext uri="{BB962C8B-B14F-4D97-AF65-F5344CB8AC3E}">
        <p14:creationId xmlns:p14="http://schemas.microsoft.com/office/powerpoint/2010/main" val="100504752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4B5CF-0BD3-4751-8B0D-BA29289A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ACADÉMICO · PROJETO ACADÉMICO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4215A-885D-485E-AA9D-E4C21FA5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AAA5F-040B-4B31-B499-764EA224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SurpriseMe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6E089-41B2-4379-B232-2C5CAEC1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Ideias de presente no contexto de pessoas e datas.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97765-2A88-416D-AF54-71F938E5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61150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F20AC-71B8-4288-B3D8-C53C360E0D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bb05380a742d1"/>
          <a:stretch xmlns:a="http://schemas.openxmlformats.org/drawingml/2006/main"/>
        </p:blipFill>
        <p:spPr>
          <a:xfrm xmlns:a="http://schemas.openxmlformats.org/drawingml/2006/main">
            <a:off x="1320165" y="2419350"/>
            <a:ext cx="4693920" cy="2933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027CA-D0A6-47B7-B865-26E40644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CONTEXTO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1FBE0-12DE-45AA-AF38-55028C8D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67000"/>
            <a:ext cx="4419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Assistente académico para organizar destinatários, eventos e histórico de presentes e apoiar sugestões personalizadas.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252C2-CB55-46A7-9716-52948FA8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10025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IMPLEMENTAÇÃO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9D5ED-30A2-495D-960E-DBAAFCC8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33875"/>
            <a:ext cx="4419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JavaFX, serviços de aplicação, modelo de domínio e persistência local. A integração de sugestões está isolada por um adaptador.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8C74E-A7CF-4D96-9426-A82A63F1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04B34-4CD3-4459-BE4E-D2325470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Utilizador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A6AE0-FBEA-4DB9-880B-B06DFFDB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8388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4C9E6-F75E-49AB-A594-051E31B7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6959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291A8-EADC-4975-8B28-D69841BC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483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JavaFX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70E47-2D7E-4CC9-85BA-6E9289FA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8388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3055BC-1A89-4F1E-8E8B-535C90C8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959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627FF-2C9D-46B9-AAD3-800BD923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483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Regras de sugestões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7F7A2-4706-4497-BCAE-A74436FD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388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E9AE5-3C63-439D-838B-FFBEA6F5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959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DD5B6B-1151-4836-B5B7-F9914243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483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Dados locais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74664-9FA0-46F9-BC29-8DE45E28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Protótipo web posterior ao JavaFX</a:t>
            </a:r>
          </a:p>
        </p:txBody>
      </p:sp>
    </p:spTree>
    <p:extLst>
      <p:ext uri="{BB962C8B-B14F-4D97-AF65-F5344CB8AC3E}">
        <p14:creationId xmlns:p14="http://schemas.microsoft.com/office/powerpoint/2010/main" val="169178993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F6365-6D05-4D4B-A48C-96C6EEAC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ACADÉMICO · PROJETO ACADÉMICO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813B4-A4E9-4199-B9FD-8B7C8049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02960-149E-4E5C-8CC4-BAE75089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Unix Topic Message Broker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E89C0-CA62-4019-972F-77FD81C0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Mensagens por tópico entre processos independentes.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E901C-00F1-4BAF-B947-EF9BC0BE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0958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Plataforma de mensagens por tópico entre processos Unix, com clientes independentes e entrega concorrente.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EFFBD-EC02-45FF-9780-BFCBB296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71725"/>
            <a:ext cx="52101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Gestor central em C com named pipes POSIX, pthreads, select e sinais. Interface de linha de comandos.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96863-CCB2-48C2-8A1C-D9C9BFAB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CASO DE USO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F198A-96A7-4E10-9476-D77CBF66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Um cliente subscreve os tópicos que pretende acompanhar.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69447-739A-4EF2-8E12-54E057B9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2571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289C8-B301-4F3F-AA42-F0D1E399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2343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Clientes CLI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253F1-D720-4709-963A-D7F4A58A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72928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9A06F-EE19-455A-9478-BF0551E4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476875"/>
            <a:ext cx="2571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BD053-5977-416A-A857-525F5140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29275"/>
            <a:ext cx="2343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Gestor de tópicos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59EE9-9CA5-46AC-A6C6-F8541DBA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72928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2E755-334F-436C-8BA2-B699BBDC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76875"/>
            <a:ext cx="2571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4AD85-D6D8-48C0-93A0-73228416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29275"/>
            <a:ext cx="2343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IPC POSIX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BF6C4-F543-472F-A86A-207BED95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72928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82D1D-C6DE-44FA-A835-4643C394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76875"/>
            <a:ext cx="2571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0818B-5708-4BB8-9191-8B63BB1A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29275"/>
            <a:ext cx="2343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Mensagens persistidas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1B6F48-7A43-49A2-873C-83935DF8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 · POSIX IPC · pthreads  |  Académico</a:t>
            </a:r>
          </a:p>
        </p:txBody>
      </p:sp>
    </p:spTree>
    <p:extLst>
      <p:ext uri="{BB962C8B-B14F-4D97-AF65-F5344CB8AC3E}">
        <p14:creationId xmlns:p14="http://schemas.microsoft.com/office/powerpoint/2010/main" val="118255288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EAB20-0093-45E5-BCA1-3CE1C8FC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ACADÉMICO · PROJETO ACADÉMICO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D3510-C456-4832-9755-E6BD06F2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E3B67-D3AF-4115-BEB2-EE0D525F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Windows IPC Word Game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133ED-CCAB-498C-A00D-5DCDFF76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Um jogo multiplayer entre processos Windows.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57F01-CB18-4CF1-967F-A1B20272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0958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Jogo de palavras com jogadores humanos, bots e um painel nativo para acompanhar o estado da aplicação.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BD526-A8B8-4646-BF11-43D50415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71725"/>
            <a:ext cx="52101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C e API Win32 com named pipes, memória partilhada e threads para comunicação e sincronização entre processos.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2BC87-BCC9-4E9C-9250-506F1F73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CASO DE USO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867E3-F24B-4613-AE80-6AD2258B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Jogadores humanos participam num jogo de palavras.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C720C-2682-4C58-AA28-4AB36164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35052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1C229-6D6E-457B-978E-A888A9E6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3276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Jogadores / bots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A5954-19F4-4148-A462-BDE01DBC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72928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57B58-6D87-4491-92D9-0247AFDB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76875"/>
            <a:ext cx="35052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CE02E-330D-4CDA-90FD-EB65B4CD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29275"/>
            <a:ext cx="3276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Processos Win32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14A5B-3D69-4B4F-994F-EDAD0A00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729288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B0FE6-9079-4344-BDEE-269FF767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35052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D8BA1-F836-4106-8F3F-3BE01B3E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29275"/>
            <a:ext cx="3276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IPC e sincronização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AB6C4-CC54-440C-89B3-BB01EC9B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 · Win32 API · Named Pipes  |  Académico</a:t>
            </a:r>
          </a:p>
        </p:txBody>
      </p:sp>
    </p:spTree>
    <p:extLst>
      <p:ext uri="{BB962C8B-B14F-4D97-AF65-F5344CB8AC3E}">
        <p14:creationId xmlns:p14="http://schemas.microsoft.com/office/powerpoint/2010/main" val="82236215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05DA44-B181-46C3-9050-C0C03536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ARQUIVO ACADÉMICO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93B49-EC23-43A0-8672-B9F0E664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28857-FE12-4F21-A9DA-A02E32E0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Outros estudos da formação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F352F-A0B1-410D-9C4E-F0ABD103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Projetos preservados na coleção académica, sem duplicar os arquivos de submissão.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DA867-A571-467E-BD4A-43795203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SafetySec Android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C2B83-640D-42AF-A82F-5E8E6669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33625"/>
            <a:ext cx="716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Aplicação académica de monitorização com alertas de emergência, geofencing e deteção por sensores.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F6DAF-3176-4E28-94FB-E922E0AC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C6332-50F3-49FB-AF6A-86B64EE8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Desert Caravan Simulator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1925E-8E90-463B-AF58-B8DC1A68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00400"/>
            <a:ext cx="716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Simulador por turnos com caravanas, comércio, movimento autónomo, eventos e combate.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0D001-B018-458E-A509-CF9BFA0B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CFA5D-6B15-4B49-8804-DDA0E420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Neural Shape Classifier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BF49D-7155-47F9-B146-BEE9306C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67175"/>
            <a:ext cx="716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Comparação de redes feedforward e interface para treino e classificação de formas geométricas.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35377-7334-4A3E-BF49-5D39CDB2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CD584-BD6D-4B76-B4A3-283D53D8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18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AMOV Flutter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7E447-8731-497E-8E1A-E0B13A4D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33950"/>
            <a:ext cx="716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Projeto académico de desenvolvimento móvel preservado no arquivo da formação.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C51A5-8EC3-4A28-B1D9-E861A520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08A72-3F4D-4DBF-84B4-AFFBB9AD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Resumos baseados no inventário dos repositórios. Sem capturas de execução disponíveis.</a:t>
            </a:r>
          </a:p>
        </p:txBody>
      </p:sp>
    </p:spTree>
    <p:extLst>
      <p:ext uri="{BB962C8B-B14F-4D97-AF65-F5344CB8AC3E}">
        <p14:creationId xmlns:p14="http://schemas.microsoft.com/office/powerpoint/2010/main" val="37984505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68D12-F071-4B7F-9F0A-75D52B33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QUALIFICAÇÕES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9BC21-4CBA-4C5F-B854-F5DB7C2D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EF689-1113-412E-A6B6-1C575D5D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Formação e experiência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5C380-B613-4527-8978-9C403DB4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Engenharia Informática, experiência de equipa e entrega a clientes.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16725-93DB-4BEE-BBEF-628E5C0B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15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15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15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15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15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15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15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15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15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15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ISEC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A21E9-62A7-4D58-9A32-563D5F3E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0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0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0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0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0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0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0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0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0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Licenciatura em Engenharia Informática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48A5C-6681-4770-9DA6-F3F55A5F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Desenvolvimento de Aplicações</a:t>
            </a:r>
          </a:p>
          <a:p xmlns:a="http://schemas.openxmlformats.org/drawingml/2006/main">
            <a:pPr algn="l">
              <a:def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2022–2026 · Conclusão em julho de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B51A2-CA61-4997-AD10-CE13907B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5257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05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05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05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05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05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05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05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05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05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INTERMEDIA INTELLIGENT COMMUNICATIONS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BA5E4-CBBC-44D9-AAB0-F10550B3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525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2175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2175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2175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2175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2175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2175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2175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2175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2175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2175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Software Engineering Intern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F922A-AD75-4EB0-83BB-5244FD73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3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3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3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3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3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3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3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3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3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Março a agosto de 2026 · Coimbra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D3C53-51FF-4B4D-B747-C3018B9A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71975"/>
            <a:ext cx="52578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7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7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7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7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7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7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7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7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7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Modelos locais para anonimização de dados, preparação de datasets e avaliação. API FastAPI e interface React/Vite.</a:t>
            </a:r>
          </a:p>
        </p:txBody>
      </p:sp>
    </p:spTree>
    <p:extLst>
      <p:ext uri="{BB962C8B-B14F-4D97-AF65-F5344CB8AC3E}">
        <p14:creationId xmlns:p14="http://schemas.microsoft.com/office/powerpoint/2010/main" val="139537636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9B80D-530F-4847-AA91-9EFAF5FD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QUALIFICAÇÕES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832D3-A4E8-439B-99EC-A0F4E6C7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9A28E-E77D-4017-B57E-B6A5BB94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36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Competências e formas de colaboração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C1924-833E-43F1-B4D5-432EF6FE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Disponível para equipas de engenharia e projetos freelance.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4182B-9FF7-454F-9EFE-5E1210AE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Backend &amp; dados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C7BE8-CB67-4C27-91B4-B5474C37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381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Java · Spring Boot · C# · ASP.NET Core</a:t>
            </a:r>
          </a:p>
          <a:p xmlns:a="http://schemas.openxmlformats.org/drawingml/2006/main">
            <a: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Python · FastAPI · PostgreSQL</a:t>
            </a:r>
          </a:p>
          <a:p xmlns:a="http://schemas.openxmlformats.org/drawingml/2006/main">
            <a: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MySQL · SQL Server · SQLite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1FDA1-46C4-4C57-97EB-BB5A397F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40982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Interfaces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D390C-009B-4FE8-A2C0-2EB99C26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095625"/>
            <a:ext cx="3381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React · TypeScript · Next.js · Astro</a:t>
            </a:r>
          </a:p>
          <a:p xmlns:a="http://schemas.openxmlformats.org/drawingml/2006/main">
            <a: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Angular · Blazor · JavaFX</a:t>
            </a:r>
          </a:p>
          <a:p xmlns:a="http://schemas.openxmlformats.org/drawingml/2006/main">
            <a: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Kotlin · Flutter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D7022-F52F-4442-B00E-7361EAF0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982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defRPr>
            </a:pPr>
            <a:r>
              <a:rPr sz="2100" b="0">
                <a:solidFill>
                  <a:srgbClr val="181816"/>
                </a:solidFill>
                <a:latin typeface="Noto Serif"/>
                <a:ea typeface="Noto Serif"/>
                <a:cs typeface="Noto Serif"/>
              </a:rPr>
              <a:t>Qualidade &amp; entrega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9DF7D-333D-4207-9D6C-96039C91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95625"/>
            <a:ext cx="3381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JUnit · Testcontainers · Vitest</a:t>
            </a:r>
          </a:p>
          <a:p xmlns:a="http://schemas.openxmlformats.org/drawingml/2006/main">
            <a: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Playwright · Docker · CI/CD</a:t>
            </a:r>
          </a:p>
          <a:p xmlns:a="http://schemas.openxmlformats.org/drawingml/2006/main">
            <a:pPr algn="l">
              <a:def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65655D"/>
                </a:solidFill>
                <a:latin typeface="Noto Sans"/>
                <a:ea typeface="Noto Sans"/>
                <a:cs typeface="Noto Sans"/>
              </a:rPr>
              <a:t>Azure · Cloudflare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DA79C-25B9-4A70-A51F-87E9A4A1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CF0D0-4F00-4814-A423-D5B70061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80623E"/>
                </a:solidFill>
                <a:latin typeface="Noto Sans"/>
                <a:ea typeface="Noto Sans"/>
                <a:cs typeface="Noto Sans"/>
              </a:rPr>
              <a:t>FREELANCE DESDE JUNHO DE 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454CD-DD33-411A-85CB-5BD447CC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Levantamento de necessidades, desenvolvimento de websites e plataformas,</a:t>
            </a:r>
          </a:p>
          <a:p xmlns:a="http://schemas.openxmlformats.org/drawingml/2006/main">
            <a:pPr algn="l">
              <a:def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81816"/>
                </a:solidFill>
                <a:latin typeface="Noto Sans"/>
                <a:ea typeface="Noto Sans"/>
                <a:cs typeface="Noto Sans"/>
              </a:rPr>
              <a:t>integração de serviços, publicação e manutenção.</a:t>
            </a:r>
          </a:p>
        </p:txBody>
      </p:sp>
    </p:spTree>
    <p:extLst>
      <p:ext uri="{BB962C8B-B14F-4D97-AF65-F5344CB8AC3E}">
        <p14:creationId xmlns:p14="http://schemas.microsoft.com/office/powerpoint/2010/main" val="63699526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81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EA269-96A0-4911-A5B3-347675F8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C9B798"/>
                </a:solidFill>
                <a:latin typeface="Noto Sans"/>
                <a:ea typeface="Noto Sans"/>
                <a:cs typeface="Noto Sans"/>
              </a:rPr>
              <a:t>CONTACTO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2706D-FA66-4545-9741-35EC3C1F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defPPr>
            <a:lvl1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1pPr>
            <a:lvl2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2pPr>
            <a:lvl3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3pPr>
            <a:lvl4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4pPr>
            <a:lvl5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5pPr>
            <a:lvl6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6pPr>
            <a:lvl7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7pPr>
            <a:lvl8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8pPr>
            <a:lvl9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C9B798"/>
                </a:solidFill>
                <a:latin typeface="Noto Sans"/>
                <a:ea typeface="Noto Sans"/>
                <a:cs typeface="Noto Sans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D393F-986F-41E1-9416-35C583E4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defPPr>
            <a:lvl1pPr algn="l">
              <a:defRPr sz="48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1pPr>
            <a:lvl2pPr algn="l">
              <a:defRPr sz="48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2pPr>
            <a:lvl3pPr algn="l">
              <a:defRPr sz="48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3pPr>
            <a:lvl4pPr algn="l">
              <a:defRPr sz="48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4pPr>
            <a:lvl5pPr algn="l">
              <a:defRPr sz="48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5pPr>
            <a:lvl6pPr algn="l">
              <a:defRPr sz="48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6pPr>
            <a:lvl7pPr algn="l">
              <a:defRPr sz="48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7pPr>
            <a:lvl8pPr algn="l">
              <a:defRPr sz="48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8pPr>
            <a:lvl9pPr algn="l">
              <a:defRPr sz="48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pPr>
            <a:r>
              <a:rPr sz="4800" b="0">
                <a:solidFill>
                  <a:srgbClr val="FFFFFF"/>
                </a:solidFill>
                <a:latin typeface="Noto Serif"/>
                <a:ea typeface="Noto Serif"/>
                <a:cs typeface="Noto Serif"/>
              </a:rPr>
              <a:t>Vamos conversar</a:t>
            </a:r>
          </a:p>
          <a:p xmlns:a="http://schemas.openxmlformats.org/drawingml/2006/main">
            <a:pPr algn="l">
              <a:defRPr sz="48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pPr>
            <a:r>
              <a:rPr sz="4800" b="0">
                <a:solidFill>
                  <a:srgbClr val="FFFFFF"/>
                </a:solidFill>
                <a:latin typeface="Noto Serif"/>
                <a:ea typeface="Noto Serif"/>
                <a:cs typeface="Noto Serif"/>
              </a:rPr>
              <a:t>sobre o próximo projeto.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D8523-DB71-4212-9E7F-9919C9E0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C9B798"/>
                </a:solidFill>
                <a:latin typeface="Noto Sans"/>
                <a:ea typeface="Noto Sans"/>
                <a:cs typeface="Noto Sans"/>
              </a:rPr>
              <a:t>Oportunidades em engenharia de software</a:t>
            </a:r>
          </a:p>
          <a:p xmlns:a="http://schemas.openxmlformats.org/drawingml/2006/main">
            <a:pPr algn="l">
              <a:defRPr sz="21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C9B798"/>
                </a:solidFill>
                <a:latin typeface="Noto Sans"/>
                <a:ea typeface="Noto Sans"/>
                <a:cs typeface="Noto Sans"/>
              </a:rPr>
              <a:t>e colaboração freelance.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9DF79-6601-4083-99B2-510896D0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FFFFFF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7e5ab2430e8047e4"/>
              </a:rPr>
              <a:t>davi.torres00pro@gmail.com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7C6DA-FB31-4635-8095-4F520E3D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53075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C9B798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96e6634b7ce3453c"/>
              </a:rPr>
              <a:t>github.com/DaviGama08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DC609-4565-4977-88D7-D3BAFE28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53075"/>
            <a:ext cx="520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C9B798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C9B798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60f912fc5f024f18"/>
              </a:rPr>
              <a:t>linkedin.com/in/davinasser</a:t>
            </a:r>
          </a:p>
        </p:txBody>
      </p:sp>
    </p:spTree>
    <p:extLst>
      <p:ext uri="{BB962C8B-B14F-4D97-AF65-F5344CB8AC3E}">
        <p14:creationId xmlns:p14="http://schemas.microsoft.com/office/powerpoint/2010/main" val="496689622"/>
      </p:ext>
    </p:extLst>
  </p:cSld>
</p:sld>
</file>

<file path=ppt/theme/theme1.xml><?xml version="1.0" encoding="utf-8"?>
<a:theme xmlns:a="http://schemas.openxmlformats.org/drawingml/2006/main" name="ChatGPT">
  <a:themeElements>
    <a:clrScheme name="Davi Gama 2026">
      <a:dk1>
        <a:srgbClr val="181816"/>
      </a:dk1>
      <a:lt1>
        <a:srgbClr val="FFFFFF"/>
      </a:lt1>
      <a:dk2>
        <a:srgbClr val="34332D"/>
      </a:dk2>
      <a:lt2>
        <a:srgbClr val="F5F3ED"/>
      </a:lt2>
      <a:accent1>
        <a:srgbClr val="80623E"/>
      </a:accent1>
      <a:accent2>
        <a:srgbClr val="181816"/>
      </a:accent2>
      <a:accent3>
        <a:srgbClr val="C9B798"/>
      </a:accent3>
      <a:accent4>
        <a:srgbClr val="65655D"/>
      </a:accent4>
      <a:accent5>
        <a:srgbClr val="EAE5DA"/>
      </a:accent5>
      <a:accent6>
        <a:srgbClr val="52665B"/>
      </a:accent6>
      <a:hlink>
        <a:srgbClr val="80623E"/>
      </a:hlink>
      <a:folHlink>
        <a:srgbClr val="80623E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Davi Gam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2026-10-27T21:46:01.2840000Z</dcterms:created>
  <dcterms:modified xsi:type="dcterms:W3CDTF">2026-10-27T21:46:01.2850000Z</dcterms:modified>
</coreProperties>
</file>